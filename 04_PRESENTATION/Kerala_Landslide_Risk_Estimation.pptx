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72" r:id="rId10"/>
    <p:sldId id="264" r:id="rId11"/>
    <p:sldId id="265" r:id="rId12"/>
    <p:sldId id="266" r:id="rId13"/>
    <p:sldId id="274" r:id="rId14"/>
    <p:sldId id="267" r:id="rId15"/>
    <p:sldId id="268" r:id="rId16"/>
    <p:sldId id="269" r:id="rId17"/>
    <p:sldId id="275" r:id="rId18"/>
    <p:sldId id="270"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62914-F3FE-417A-ADAD-A9771D12DC7C}" v="750" dt="2026-09-18T12:49:48.2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7D8A0B4-70D2-4758-9A33-AF08BE0C0DAE}" type="datetimeFigureOut">
              <a:t>9/18/2026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F0A8297-DA89-4333-873B-9873A8215E0C}" type="slidenum">
              <a:t>‹#›</a:t>
            </a:fld>
            <a:endParaRPr lang="en-US"/>
          </a:p>
        </p:txBody>
      </p:sp>
    </p:spTree>
    <p:extLst>
      <p:ext uri="{BB962C8B-B14F-4D97-AF65-F5344CB8AC3E}">
        <p14:creationId xmlns:p14="http://schemas.microsoft.com/office/powerpoint/2010/main" val="3120358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1934-EE61-4845-3BE4-6FE55F5A2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D264C-8A33-95D0-4205-6407C840D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6D5AF-EB49-DE50-09B4-D7A1DD4DA9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6F6522-E353-E9BB-D1FD-1D85FC477E6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34223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8E93-FA32-CBD1-350F-BE4ABC958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0C3F0-1A3C-20C7-C131-D86C051DE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EBCCD-5158-56C5-6F75-94C71F7390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693398-A687-D3A4-C836-81F20B20805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44501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456C6-E67D-687E-0C11-648FD949E3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13B1B-31EB-4BCC-6346-102D763FF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068A0-1FA1-C13A-EA04-8D37CBCD3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E0599-9482-17EF-50B7-B0A8DCD71AC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94711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research.utwente.nl/en/datasets/landslide-inventory-of-the-2018-monsoon-rainfall-in-kerala-india/"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sdma.kerala.gov.in/hazard-maps/" TargetMode="External"/><Relationship Id="rId4" Type="http://schemas.openxmlformats.org/officeDocument/2006/relationships/hyperlink" Target="https://www.nwdp.nwic.gov.in/dataset/rainfall-kerala-surface-water-manual-dail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E28"/>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A2E28"/>
          </a:solidFill>
          <a:ln/>
        </p:spPr>
      </p:sp>
      <p:sp>
        <p:nvSpPr>
          <p:cNvPr id="3" name="Shape 1"/>
          <p:cNvSpPr/>
          <p:nvPr/>
        </p:nvSpPr>
        <p:spPr>
          <a:xfrm>
            <a:off x="8961120" y="-1828800"/>
            <a:ext cx="5486400" cy="5486400"/>
          </a:xfrm>
          <a:prstGeom prst="ellipse">
            <a:avLst/>
          </a:prstGeom>
          <a:solidFill>
            <a:srgbClr val="B85042">
              <a:alpha val="22000"/>
            </a:srgbClr>
          </a:solidFill>
          <a:ln/>
        </p:spPr>
      </p:sp>
      <p:sp>
        <p:nvSpPr>
          <p:cNvPr id="4" name="Shape 2"/>
          <p:cNvSpPr/>
          <p:nvPr/>
        </p:nvSpPr>
        <p:spPr>
          <a:xfrm>
            <a:off x="-1828800" y="4114800"/>
            <a:ext cx="4572000" cy="4572000"/>
          </a:xfrm>
          <a:prstGeom prst="ellipse">
            <a:avLst/>
          </a:prstGeom>
          <a:solidFill>
            <a:srgbClr val="A7BEAE">
              <a:alpha val="18000"/>
            </a:srgbClr>
          </a:solidFill>
          <a:ln/>
        </p:spPr>
      </p:sp>
      <p:sp>
        <p:nvSpPr>
          <p:cNvPr id="5" name="Text 3"/>
          <p:cNvSpPr txBox="1"/>
          <p:nvPr/>
        </p:nvSpPr>
        <p:spPr>
          <a:xfrm>
            <a:off x="822960" y="1371600"/>
            <a:ext cx="9144000" cy="365760"/>
          </a:xfrm>
          <a:prstGeom prst="rect">
            <a:avLst/>
          </a:prstGeom>
          <a:noFill/>
          <a:ln/>
        </p:spPr>
        <p:txBody>
          <a:bodyPr wrap="square" lIns="0" tIns="0" rIns="0" bIns="0" rtlCol="0" anchor="ctr"/>
          <a:lstStyle/>
          <a:p>
            <a:pPr marL="0" indent="0">
              <a:buNone/>
            </a:pPr>
            <a:r>
              <a:rPr lang="en-US" sz="1300" b="1" kern="0" spc="200" dirty="0">
                <a:solidFill>
                  <a:srgbClr val="A7BEAE"/>
                </a:solidFill>
                <a:latin typeface="Calibri" pitchFamily="34" charset="0"/>
                <a:ea typeface="Calibri" pitchFamily="34" charset="-122"/>
                <a:cs typeface="Calibri" pitchFamily="34" charset="-120"/>
              </a:rPr>
              <a:t>SIEMENS DATA SCIENCE CONTEST · IEDC SUMMIT 2026</a:t>
            </a:r>
            <a:endParaRPr lang="en-US" sz="1300" dirty="0"/>
          </a:p>
        </p:txBody>
      </p:sp>
      <p:sp>
        <p:nvSpPr>
          <p:cNvPr id="6" name="Text 4"/>
          <p:cNvSpPr txBox="1"/>
          <p:nvPr/>
        </p:nvSpPr>
        <p:spPr>
          <a:xfrm>
            <a:off x="822960" y="1920240"/>
            <a:ext cx="100584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Kerala Landslide Risk Estimation</a:t>
            </a:r>
            <a:endParaRPr lang="en-US" sz="4400" dirty="0"/>
          </a:p>
        </p:txBody>
      </p:sp>
      <p:sp>
        <p:nvSpPr>
          <p:cNvPr id="7" name="Text 5"/>
          <p:cNvSpPr txBox="1"/>
          <p:nvPr/>
        </p:nvSpPr>
        <p:spPr>
          <a:xfrm>
            <a:off x="822960" y="2894737"/>
            <a:ext cx="10058400" cy="640080"/>
          </a:xfrm>
          <a:prstGeom prst="rect">
            <a:avLst/>
          </a:prstGeom>
          <a:noFill/>
          <a:ln/>
        </p:spPr>
        <p:txBody>
          <a:bodyPr wrap="square" lIns="0" tIns="0" rIns="0" bIns="0" rtlCol="0" anchor="ctr"/>
          <a:lstStyle/>
          <a:p>
            <a:pPr marL="0" indent="0">
              <a:buNone/>
            </a:pPr>
            <a:r>
              <a:rPr lang="en-US" sz="2200" i="1" dirty="0">
                <a:solidFill>
                  <a:srgbClr val="E7E8D1"/>
                </a:solidFill>
                <a:latin typeface="Cambria" pitchFamily="34" charset="0"/>
                <a:ea typeface="Cambria" pitchFamily="34" charset="-122"/>
                <a:cs typeface="Cambria" pitchFamily="34" charset="-120"/>
              </a:rPr>
              <a:t>Using Rainfall, Terrain Susceptibility and Land-Use Factors</a:t>
            </a:r>
            <a:endParaRPr lang="en-US" sz="2200" dirty="0"/>
          </a:p>
        </p:txBody>
      </p:sp>
      <p:sp>
        <p:nvSpPr>
          <p:cNvPr id="8" name="Shape 6"/>
          <p:cNvSpPr/>
          <p:nvPr/>
        </p:nvSpPr>
        <p:spPr>
          <a:xfrm>
            <a:off x="868680" y="3703320"/>
            <a:ext cx="2011680" cy="0"/>
          </a:xfrm>
          <a:prstGeom prst="line">
            <a:avLst/>
          </a:prstGeom>
          <a:noFill/>
          <a:ln w="38100">
            <a:solidFill>
              <a:srgbClr val="B85042"/>
            </a:solidFill>
            <a:prstDash val="solid"/>
          </a:ln>
        </p:spPr>
      </p:sp>
      <p:sp>
        <p:nvSpPr>
          <p:cNvPr id="9" name="Text 7"/>
          <p:cNvSpPr txBox="1"/>
          <p:nvPr/>
        </p:nvSpPr>
        <p:spPr>
          <a:xfrm>
            <a:off x="822960" y="3931920"/>
            <a:ext cx="9601200" cy="822960"/>
          </a:xfrm>
          <a:prstGeom prst="rect">
            <a:avLst/>
          </a:prstGeom>
          <a:noFill/>
          <a:ln/>
        </p:spPr>
        <p:txBody>
          <a:bodyPr wrap="square" lIns="0" tIns="0" rIns="0" bIns="0" rtlCol="0" anchor="ctr"/>
          <a:lstStyle/>
          <a:p>
            <a:pPr marL="0" indent="0">
              <a:lnSpc>
                <a:spcPct val="130000"/>
              </a:lnSpc>
              <a:buNone/>
            </a:pPr>
            <a:r>
              <a:rPr lang="en-US" dirty="0">
                <a:solidFill>
                  <a:srgbClr val="E7E8D1"/>
                </a:solidFill>
                <a:latin typeface="Calibri"/>
                <a:ea typeface="Calibri"/>
                <a:cs typeface="Calibri"/>
              </a:rPr>
              <a:t>A data-driven prototype analyzing how rainfall exposure, geological susceptibility, and</a:t>
            </a:r>
            <a:endParaRPr lang="en-US" dirty="0">
              <a:latin typeface="Calibri"/>
              <a:ea typeface="Calibri"/>
              <a:cs typeface="Calibri"/>
            </a:endParaRPr>
          </a:p>
          <a:p>
            <a:pPr marL="0" indent="0">
              <a:lnSpc>
                <a:spcPct val="130000"/>
              </a:lnSpc>
              <a:buNone/>
            </a:pPr>
            <a:r>
              <a:rPr lang="en-US" dirty="0">
                <a:solidFill>
                  <a:srgbClr val="E7E8D1"/>
                </a:solidFill>
                <a:latin typeface="Calibri" pitchFamily="34" charset="0"/>
                <a:ea typeface="Calibri" pitchFamily="34" charset="-122"/>
                <a:cs typeface="Calibri" pitchFamily="34" charset="-120"/>
              </a:rPr>
              <a:t>land-use characteristics relate to observed landslide locations in Kerala during the 2018 monsoon.</a:t>
            </a:r>
            <a:endParaRPr lang="en-US" dirty="0"/>
          </a:p>
        </p:txBody>
      </p:sp>
      <p:sp>
        <p:nvSpPr>
          <p:cNvPr id="10" name="Text 8"/>
          <p:cNvSpPr txBox="1"/>
          <p:nvPr/>
        </p:nvSpPr>
        <p:spPr>
          <a:xfrm>
            <a:off x="856577" y="6035040"/>
            <a:ext cx="11078135" cy="186466"/>
          </a:xfrm>
          <a:prstGeom prst="rect">
            <a:avLst/>
          </a:prstGeom>
          <a:noFill/>
          <a:ln/>
        </p:spPr>
        <p:txBody>
          <a:bodyPr wrap="square" lIns="0" tIns="0" rIns="0" bIns="0" rtlCol="0" anchor="ctr"/>
          <a:lstStyle/>
          <a:p>
            <a:pPr marL="0" indent="0">
              <a:buNone/>
            </a:pPr>
            <a:r>
              <a:rPr lang="en-US" dirty="0">
                <a:solidFill>
                  <a:srgbClr val="A7BEAE"/>
                </a:solidFill>
                <a:latin typeface="Calibri"/>
                <a:ea typeface="Calibri"/>
                <a:cs typeface="Calibri"/>
              </a:rPr>
              <a:t>Fathima M J  |  B.Tech Artificial Intelligence &amp; Data Science  |  Ilahia College of Engineering and Technology</a:t>
            </a:r>
            <a:endParaRPr lang="en-US">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200" b="1" dirty="0">
                <a:solidFill>
                  <a:srgbClr val="3A2E28"/>
                </a:solidFill>
                <a:latin typeface="Cambria"/>
                <a:ea typeface="Cambria"/>
                <a:cs typeface="Cambria" pitchFamily="34" charset="-120"/>
              </a:rPr>
              <a:t>The Problem</a:t>
            </a:r>
            <a:endParaRPr lang="en-US" sz="3200">
              <a:latin typeface="Cambria"/>
              <a:ea typeface="Cambria"/>
              <a:cs typeface="Calibri"/>
            </a:endParaRPr>
          </a:p>
        </p:txBody>
      </p:sp>
      <p:sp>
        <p:nvSpPr>
          <p:cNvPr id="3" name="Text 1"/>
          <p:cNvSpPr txBox="1"/>
          <p:nvPr/>
        </p:nvSpPr>
        <p:spPr>
          <a:xfrm>
            <a:off x="548640" y="960120"/>
            <a:ext cx="7315200" cy="365760"/>
          </a:xfrm>
          <a:prstGeom prst="rect">
            <a:avLst/>
          </a:prstGeom>
          <a:noFill/>
          <a:ln/>
        </p:spPr>
        <p:txBody>
          <a:bodyPr wrap="square" lIns="0" tIns="0" rIns="0" bIns="0" rtlCol="0" anchor="ctr"/>
          <a:lstStyle/>
          <a:p>
            <a:pPr marL="0" indent="0">
              <a:buNone/>
            </a:pPr>
            <a:r>
              <a:rPr lang="en-US" sz="1500" i="1" dirty="0">
                <a:solidFill>
                  <a:srgbClr val="B85042"/>
                </a:solidFill>
                <a:latin typeface="Calibri" pitchFamily="34" charset="0"/>
                <a:ea typeface="Calibri" pitchFamily="34" charset="-122"/>
                <a:cs typeface="Calibri" pitchFamily="34" charset="-120"/>
              </a:rPr>
              <a:t>Kerala's monsoon landslide crisis</a:t>
            </a:r>
            <a:endParaRPr lang="en-US" sz="1500" dirty="0"/>
          </a:p>
        </p:txBody>
      </p:sp>
      <p:sp>
        <p:nvSpPr>
          <p:cNvPr id="4" name="Shape 2"/>
          <p:cNvSpPr/>
          <p:nvPr/>
        </p:nvSpPr>
        <p:spPr>
          <a:xfrm>
            <a:off x="548640" y="1645920"/>
            <a:ext cx="3520440" cy="1828800"/>
          </a:xfrm>
          <a:prstGeom prst="rect">
            <a:avLst/>
          </a:prstGeom>
          <a:solidFill>
            <a:srgbClr val="E7E8D1"/>
          </a:solidFill>
          <a:ln/>
        </p:spPr>
      </p:sp>
      <p:sp>
        <p:nvSpPr>
          <p:cNvPr id="5" name="Text 3"/>
          <p:cNvSpPr txBox="1"/>
          <p:nvPr/>
        </p:nvSpPr>
        <p:spPr>
          <a:xfrm>
            <a:off x="548640" y="1783080"/>
            <a:ext cx="3520440" cy="822960"/>
          </a:xfrm>
          <a:prstGeom prst="rect">
            <a:avLst/>
          </a:prstGeom>
          <a:noFill/>
          <a:ln/>
        </p:spPr>
        <p:txBody>
          <a:bodyPr wrap="square" lIns="0" tIns="0" rIns="0" bIns="0" rtlCol="0" anchor="ctr"/>
          <a:lstStyle/>
          <a:p>
            <a:pPr marL="0" indent="0" algn="ctr">
              <a:buNone/>
            </a:pPr>
            <a:r>
              <a:rPr lang="en-US" sz="4000" b="1" dirty="0">
                <a:solidFill>
                  <a:srgbClr val="B85042"/>
                </a:solidFill>
                <a:latin typeface="Cambria" pitchFamily="34" charset="0"/>
                <a:ea typeface="Cambria" pitchFamily="34" charset="-122"/>
                <a:cs typeface="Cambria" pitchFamily="34" charset="-120"/>
              </a:rPr>
              <a:t>4,728</a:t>
            </a:r>
            <a:endParaRPr lang="en-US" sz="4000" dirty="0"/>
          </a:p>
        </p:txBody>
      </p:sp>
      <p:sp>
        <p:nvSpPr>
          <p:cNvPr id="6" name="Text 4"/>
          <p:cNvSpPr txBox="1"/>
          <p:nvPr/>
        </p:nvSpPr>
        <p:spPr>
          <a:xfrm>
            <a:off x="777240" y="2606040"/>
            <a:ext cx="3063240" cy="777240"/>
          </a:xfrm>
          <a:prstGeom prst="rect">
            <a:avLst/>
          </a:prstGeom>
          <a:noFill/>
          <a:ln/>
        </p:spPr>
        <p:txBody>
          <a:bodyPr wrap="square" lIns="0" tIns="0" rIns="0" bIns="0" rtlCol="0" anchor="ctr"/>
          <a:lstStyle/>
          <a:p>
            <a:pPr marL="0" indent="0" algn="ctr">
              <a:lnSpc>
                <a:spcPct val="115000"/>
              </a:lnSpc>
              <a:buNone/>
            </a:pPr>
            <a:r>
              <a:rPr lang="en-US" sz="1600" dirty="0">
                <a:solidFill>
                  <a:srgbClr val="2B2B2B"/>
                </a:solidFill>
                <a:latin typeface="Calibri"/>
                <a:ea typeface="Calibri"/>
                <a:cs typeface="Calibri"/>
              </a:rPr>
              <a:t>Landslides mapped across</a:t>
            </a:r>
            <a:endParaRPr lang="en-US" sz="1600">
              <a:latin typeface="Calibri"/>
              <a:ea typeface="Calibri"/>
              <a:cs typeface="Calibri"/>
            </a:endParaRPr>
          </a:p>
          <a:p>
            <a:pPr marL="0" indent="0" algn="ctr">
              <a:lnSpc>
                <a:spcPct val="115000"/>
              </a:lnSpc>
              <a:buNone/>
            </a:pPr>
            <a:r>
              <a:rPr lang="en-US" sz="1600" dirty="0">
                <a:solidFill>
                  <a:srgbClr val="2B2B2B"/>
                </a:solidFill>
                <a:latin typeface="Calibri"/>
                <a:ea typeface="Calibri"/>
                <a:cs typeface="Calibri"/>
              </a:rPr>
              <a:t>Kerala in the 2018 monsoon</a:t>
            </a:r>
            <a:endParaRPr lang="en-US" sz="1600">
              <a:latin typeface="Calibri"/>
              <a:ea typeface="Calibri"/>
              <a:cs typeface="Calibri"/>
            </a:endParaRPr>
          </a:p>
        </p:txBody>
      </p:sp>
      <p:sp>
        <p:nvSpPr>
          <p:cNvPr id="7" name="Shape 5"/>
          <p:cNvSpPr/>
          <p:nvPr/>
        </p:nvSpPr>
        <p:spPr>
          <a:xfrm>
            <a:off x="4343400" y="1645920"/>
            <a:ext cx="3520440" cy="1828800"/>
          </a:xfrm>
          <a:prstGeom prst="rect">
            <a:avLst/>
          </a:prstGeom>
          <a:solidFill>
            <a:srgbClr val="E7E8D1"/>
          </a:solidFill>
          <a:ln/>
        </p:spPr>
      </p:sp>
      <p:sp>
        <p:nvSpPr>
          <p:cNvPr id="8" name="Text 6"/>
          <p:cNvSpPr txBox="1"/>
          <p:nvPr/>
        </p:nvSpPr>
        <p:spPr>
          <a:xfrm>
            <a:off x="4343400" y="1783080"/>
            <a:ext cx="3520440" cy="822960"/>
          </a:xfrm>
          <a:prstGeom prst="rect">
            <a:avLst/>
          </a:prstGeom>
          <a:noFill/>
          <a:ln/>
        </p:spPr>
        <p:txBody>
          <a:bodyPr wrap="square" lIns="0" tIns="0" rIns="0" bIns="0" rtlCol="0" anchor="ctr"/>
          <a:lstStyle/>
          <a:p>
            <a:pPr marL="0" indent="0" algn="ctr">
              <a:buNone/>
            </a:pPr>
            <a:r>
              <a:rPr lang="en-US" sz="4000" b="1" dirty="0">
                <a:solidFill>
                  <a:srgbClr val="B85042"/>
                </a:solidFill>
                <a:latin typeface="Cambria" pitchFamily="34" charset="0"/>
                <a:ea typeface="Cambria" pitchFamily="34" charset="-122"/>
                <a:cs typeface="Cambria" pitchFamily="34" charset="-120"/>
              </a:rPr>
              <a:t>3</a:t>
            </a:r>
            <a:endParaRPr lang="en-US" sz="4000" dirty="0"/>
          </a:p>
        </p:txBody>
      </p:sp>
      <p:sp>
        <p:nvSpPr>
          <p:cNvPr id="9" name="Text 7"/>
          <p:cNvSpPr txBox="1"/>
          <p:nvPr/>
        </p:nvSpPr>
        <p:spPr>
          <a:xfrm>
            <a:off x="4572000" y="2606040"/>
            <a:ext cx="3063240" cy="777240"/>
          </a:xfrm>
          <a:prstGeom prst="rect">
            <a:avLst/>
          </a:prstGeom>
          <a:noFill/>
          <a:ln/>
        </p:spPr>
        <p:txBody>
          <a:bodyPr wrap="square" lIns="0" tIns="0" rIns="0" bIns="0" rtlCol="0" anchor="ctr"/>
          <a:lstStyle/>
          <a:p>
            <a:pPr marL="0" indent="0" algn="ctr">
              <a:lnSpc>
                <a:spcPct val="115000"/>
              </a:lnSpc>
              <a:buNone/>
            </a:pPr>
            <a:r>
              <a:rPr lang="en-US" sz="1600" dirty="0">
                <a:solidFill>
                  <a:srgbClr val="2B2B2B"/>
                </a:solidFill>
                <a:latin typeface="Calibri"/>
                <a:ea typeface="Calibri"/>
                <a:cs typeface="Calibri"/>
              </a:rPr>
              <a:t>Distinct landslide types recorded— Debris Flow, Shallow Slide, Rockfall</a:t>
            </a:r>
            <a:endParaRPr lang="en-US" sz="1600">
              <a:latin typeface="Calibri"/>
              <a:ea typeface="Calibri"/>
              <a:cs typeface="Calibri"/>
            </a:endParaRPr>
          </a:p>
        </p:txBody>
      </p:sp>
      <p:sp>
        <p:nvSpPr>
          <p:cNvPr id="10" name="Shape 8"/>
          <p:cNvSpPr/>
          <p:nvPr/>
        </p:nvSpPr>
        <p:spPr>
          <a:xfrm>
            <a:off x="8138160" y="1645920"/>
            <a:ext cx="3520440" cy="1828800"/>
          </a:xfrm>
          <a:prstGeom prst="rect">
            <a:avLst/>
          </a:prstGeom>
          <a:solidFill>
            <a:srgbClr val="E7E8D1"/>
          </a:solidFill>
          <a:ln/>
        </p:spPr>
      </p:sp>
      <p:sp>
        <p:nvSpPr>
          <p:cNvPr id="11" name="Text 9"/>
          <p:cNvSpPr txBox="1"/>
          <p:nvPr/>
        </p:nvSpPr>
        <p:spPr>
          <a:xfrm>
            <a:off x="8138160" y="1783080"/>
            <a:ext cx="3520440" cy="822960"/>
          </a:xfrm>
          <a:prstGeom prst="rect">
            <a:avLst/>
          </a:prstGeom>
          <a:noFill/>
          <a:ln/>
        </p:spPr>
        <p:txBody>
          <a:bodyPr wrap="square" lIns="0" tIns="0" rIns="0" bIns="0" rtlCol="0" anchor="ctr"/>
          <a:lstStyle/>
          <a:p>
            <a:pPr marL="0" indent="0" algn="ctr">
              <a:buNone/>
            </a:pPr>
            <a:r>
              <a:rPr lang="en-US" sz="4000" b="1" dirty="0">
                <a:solidFill>
                  <a:srgbClr val="B85042"/>
                </a:solidFill>
                <a:latin typeface="Cambria" pitchFamily="34" charset="0"/>
                <a:ea typeface="Cambria" pitchFamily="34" charset="-122"/>
                <a:cs typeface="Cambria" pitchFamily="34" charset="-120"/>
              </a:rPr>
              <a:t>60</a:t>
            </a:r>
            <a:endParaRPr lang="en-US" sz="4000" dirty="0"/>
          </a:p>
        </p:txBody>
      </p:sp>
      <p:sp>
        <p:nvSpPr>
          <p:cNvPr id="12" name="Text 10"/>
          <p:cNvSpPr txBox="1"/>
          <p:nvPr/>
        </p:nvSpPr>
        <p:spPr>
          <a:xfrm>
            <a:off x="8366760" y="2606040"/>
            <a:ext cx="3063240" cy="777240"/>
          </a:xfrm>
          <a:prstGeom prst="rect">
            <a:avLst/>
          </a:prstGeom>
          <a:noFill/>
          <a:ln/>
        </p:spPr>
        <p:txBody>
          <a:bodyPr wrap="square" lIns="0" tIns="0" rIns="0" bIns="0" rtlCol="0" anchor="ctr"/>
          <a:lstStyle/>
          <a:p>
            <a:pPr marL="0" indent="0" algn="ctr">
              <a:lnSpc>
                <a:spcPct val="115000"/>
              </a:lnSpc>
              <a:buNone/>
            </a:pPr>
            <a:r>
              <a:rPr lang="en-US" sz="1600" dirty="0">
                <a:solidFill>
                  <a:srgbClr val="2B2B2B"/>
                </a:solidFill>
                <a:latin typeface="Calibri"/>
                <a:ea typeface="Calibri"/>
                <a:cs typeface="Calibri"/>
              </a:rPr>
              <a:t>Rainfall stations available</a:t>
            </a:r>
            <a:endParaRPr lang="en-US" sz="1600">
              <a:latin typeface="Calibri"/>
              <a:ea typeface="Calibri"/>
              <a:cs typeface="Calibri"/>
            </a:endParaRPr>
          </a:p>
          <a:p>
            <a:pPr marL="0" indent="0" algn="ctr">
              <a:lnSpc>
                <a:spcPct val="115000"/>
              </a:lnSpc>
              <a:buNone/>
            </a:pPr>
            <a:r>
              <a:rPr lang="en-US" sz="1600" dirty="0">
                <a:solidFill>
                  <a:srgbClr val="2B2B2B"/>
                </a:solidFill>
                <a:latin typeface="Calibri"/>
                <a:ea typeface="Calibri"/>
                <a:cs typeface="Calibri"/>
              </a:rPr>
              <a:t>to characterize the entire state</a:t>
            </a:r>
            <a:endParaRPr lang="en-US" sz="1600">
              <a:latin typeface="Calibri"/>
              <a:ea typeface="Calibri"/>
              <a:cs typeface="Calibri"/>
            </a:endParaRPr>
          </a:p>
        </p:txBody>
      </p:sp>
      <p:sp>
        <p:nvSpPr>
          <p:cNvPr id="13" name="Text 11"/>
          <p:cNvSpPr txBox="1"/>
          <p:nvPr/>
        </p:nvSpPr>
        <p:spPr>
          <a:xfrm>
            <a:off x="455822" y="3909779"/>
            <a:ext cx="11366798" cy="1554480"/>
          </a:xfrm>
          <a:prstGeom prst="rect">
            <a:avLst/>
          </a:prstGeom>
          <a:noFill/>
          <a:ln/>
        </p:spPr>
        <p:txBody>
          <a:bodyPr wrap="square" lIns="0" tIns="0" rIns="0" bIns="0" rtlCol="0" anchor="ctr"/>
          <a:lstStyle/>
          <a:p>
            <a:pPr algn="just"/>
            <a:r>
              <a:rPr lang="en-US">
                <a:solidFill>
                  <a:srgbClr val="2B2B2B"/>
                </a:solidFill>
                <a:ea typeface="+mn-lt"/>
                <a:cs typeface="+mn-lt"/>
              </a:rPr>
              <a:t>Existing susceptibility maps (e.g. GSI) rate terrain risk, but they are </a:t>
            </a:r>
            <a:r>
              <a:rPr lang="en-US" b="1">
                <a:solidFill>
                  <a:srgbClr val="2B2B2B"/>
                </a:solidFill>
                <a:ea typeface="+mn-lt"/>
                <a:cs typeface="+mn-lt"/>
              </a:rPr>
              <a:t>static, expert-derived classifications</a:t>
            </a:r>
            <a:r>
              <a:rPr lang="en-US">
                <a:solidFill>
                  <a:srgbClr val="2B2B2B"/>
                </a:solidFill>
                <a:ea typeface="+mn-lt"/>
                <a:cs typeface="+mn-lt"/>
              </a:rPr>
              <a:t> — they do not directly incorporate the </a:t>
            </a:r>
            <a:r>
              <a:rPr lang="en-US" b="1">
                <a:solidFill>
                  <a:srgbClr val="2B2B2B"/>
                </a:solidFill>
                <a:ea typeface="+mn-lt"/>
                <a:cs typeface="+mn-lt"/>
              </a:rPr>
              <a:t>dynamic rainfall conditions</a:t>
            </a:r>
            <a:r>
              <a:rPr lang="en-US">
                <a:solidFill>
                  <a:srgbClr val="2B2B2B"/>
                </a:solidFill>
                <a:ea typeface="+mn-lt"/>
                <a:cs typeface="+mn-lt"/>
              </a:rPr>
              <a:t> or </a:t>
            </a:r>
            <a:r>
              <a:rPr lang="en-US" b="1">
                <a:solidFill>
                  <a:srgbClr val="2B2B2B"/>
                </a:solidFill>
                <a:ea typeface="+mn-lt"/>
                <a:cs typeface="+mn-lt"/>
              </a:rPr>
              <a:t>land-use context</a:t>
            </a:r>
            <a:r>
              <a:rPr lang="en-US">
                <a:solidFill>
                  <a:srgbClr val="2B2B2B"/>
                </a:solidFill>
                <a:ea typeface="+mn-lt"/>
                <a:cs typeface="+mn-lt"/>
              </a:rPr>
              <a:t> present at the time of an event. </a:t>
            </a:r>
            <a:r>
              <a:rPr lang="en-US" b="1">
                <a:solidFill>
                  <a:srgbClr val="2B2B2B"/>
                </a:solidFill>
                <a:ea typeface="+mn-lt"/>
                <a:cs typeface="+mn-lt"/>
              </a:rPr>
              <a:t>65.9%</a:t>
            </a:r>
            <a:r>
              <a:rPr lang="en-US">
                <a:solidFill>
                  <a:srgbClr val="2B2B2B"/>
                </a:solidFill>
                <a:ea typeface="+mn-lt"/>
                <a:cs typeface="+mn-lt"/>
              </a:rPr>
              <a:t> of the 2018 landslides — nearly two-thirds — occurred in areas GSI classified as only </a:t>
            </a:r>
            <a:r>
              <a:rPr lang="en-US" b="1">
                <a:solidFill>
                  <a:srgbClr val="2B2B2B"/>
                </a:solidFill>
                <a:ea typeface="+mn-lt"/>
                <a:cs typeface="+mn-lt"/>
              </a:rPr>
              <a:t>Moderate or Low</a:t>
            </a:r>
            <a:r>
              <a:rPr lang="en-US">
                <a:solidFill>
                  <a:srgbClr val="2B2B2B"/>
                </a:solidFill>
                <a:ea typeface="+mn-lt"/>
                <a:cs typeface="+mn-lt"/>
              </a:rPr>
              <a:t> susceptibility, not High — suggesting these existing maps alone don't fully explain where and how landslides happen.</a:t>
            </a:r>
            <a:endParaRPr lang="en-US">
              <a:ea typeface="+mn-lt"/>
              <a:cs typeface="+mn-lt"/>
            </a:endParaRPr>
          </a:p>
          <a:p>
            <a:pPr marL="0" indent="0">
              <a:lnSpc>
                <a:spcPct val="135000"/>
              </a:lnSpc>
              <a:buNone/>
            </a:pPr>
            <a:endParaRPr lang="en-US" dirty="0">
              <a:solidFill>
                <a:srgbClr val="2B2B2B"/>
              </a:solidFill>
              <a:latin typeface="Calibri"/>
              <a:ea typeface="Calibri"/>
              <a:cs typeface="Calibri"/>
            </a:endParaRPr>
          </a:p>
        </p:txBody>
      </p:sp>
      <p:sp>
        <p:nvSpPr>
          <p:cNvPr id="14" name="Shape 12"/>
          <p:cNvSpPr/>
          <p:nvPr/>
        </p:nvSpPr>
        <p:spPr>
          <a:xfrm>
            <a:off x="548640" y="5577840"/>
            <a:ext cx="11064240" cy="685800"/>
          </a:xfrm>
          <a:prstGeom prst="rect">
            <a:avLst/>
          </a:prstGeom>
          <a:solidFill>
            <a:srgbClr val="3A2E28"/>
          </a:solidFill>
          <a:ln/>
        </p:spPr>
      </p:sp>
      <p:sp>
        <p:nvSpPr>
          <p:cNvPr id="15" name="Text 13"/>
          <p:cNvSpPr txBox="1"/>
          <p:nvPr/>
        </p:nvSpPr>
        <p:spPr>
          <a:xfrm>
            <a:off x="837339" y="5577840"/>
            <a:ext cx="11061938" cy="685800"/>
          </a:xfrm>
          <a:prstGeom prst="rect">
            <a:avLst/>
          </a:prstGeom>
          <a:noFill/>
          <a:ln/>
        </p:spPr>
        <p:txBody>
          <a:bodyPr wrap="square" lIns="0" tIns="0" rIns="0" bIns="0" rtlCol="0" anchor="ctr"/>
          <a:lstStyle/>
          <a:p>
            <a:pPr marL="0" indent="0" algn="l">
              <a:buNone/>
            </a:pPr>
            <a:r>
              <a:rPr lang="en-US" b="1" i="1" dirty="0">
                <a:solidFill>
                  <a:srgbClr val="FFFFFF"/>
                </a:solidFill>
                <a:latin typeface="Calibri"/>
                <a:ea typeface="Calibri"/>
                <a:cs typeface="Calibri"/>
              </a:rPr>
              <a:t>The question: can rainfall and land-use data add meaningful insight beyond what existing susceptibility maps already tell us?</a:t>
            </a:r>
            <a:endParaRPr lang="en-US">
              <a:latin typeface="Calibri"/>
              <a:ea typeface="Calibri"/>
              <a:cs typeface="Calibri"/>
            </a:endParaRPr>
          </a:p>
        </p:txBody>
      </p:sp>
      <p:sp>
        <p:nvSpPr>
          <p:cNvPr id="16" name="Text 14"/>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7" name="Text 15"/>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Motivation</a:t>
            </a:r>
            <a:endParaRPr lang="en-US" sz="3000" dirty="0"/>
          </a:p>
        </p:txBody>
      </p:sp>
      <p:sp>
        <p:nvSpPr>
          <p:cNvPr id="3" name="Shape 1"/>
          <p:cNvSpPr/>
          <p:nvPr/>
        </p:nvSpPr>
        <p:spPr>
          <a:xfrm>
            <a:off x="548640" y="1371600"/>
            <a:ext cx="5394960" cy="2103120"/>
          </a:xfrm>
          <a:prstGeom prst="rect">
            <a:avLst/>
          </a:prstGeom>
          <a:solidFill>
            <a:srgbClr val="F7F5F0"/>
          </a:solidFill>
          <a:ln/>
        </p:spPr>
      </p:sp>
      <p:sp>
        <p:nvSpPr>
          <p:cNvPr id="4" name="Shape 2"/>
          <p:cNvSpPr/>
          <p:nvPr/>
        </p:nvSpPr>
        <p:spPr>
          <a:xfrm>
            <a:off x="822960" y="1645920"/>
            <a:ext cx="502920" cy="502920"/>
          </a:xfrm>
          <a:prstGeom prst="ellipse">
            <a:avLst/>
          </a:prstGeom>
          <a:solidFill>
            <a:srgbClr val="B85042"/>
          </a:solidFill>
          <a:ln/>
        </p:spPr>
      </p:sp>
      <p:sp>
        <p:nvSpPr>
          <p:cNvPr id="5" name="Text 3"/>
          <p:cNvSpPr txBox="1"/>
          <p:nvPr/>
        </p:nvSpPr>
        <p:spPr>
          <a:xfrm>
            <a:off x="822960" y="164592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1</a:t>
            </a:r>
            <a:endParaRPr lang="en-US" sz="1650" dirty="0"/>
          </a:p>
        </p:txBody>
      </p:sp>
      <p:sp>
        <p:nvSpPr>
          <p:cNvPr id="6" name="Text 4"/>
          <p:cNvSpPr txBox="1"/>
          <p:nvPr/>
        </p:nvSpPr>
        <p:spPr>
          <a:xfrm>
            <a:off x="1508760" y="1627632"/>
            <a:ext cx="4206240" cy="502920"/>
          </a:xfrm>
          <a:prstGeom prst="rect">
            <a:avLst/>
          </a:prstGeom>
          <a:noFill/>
          <a:ln/>
        </p:spPr>
        <p:txBody>
          <a:bodyPr wrap="square" lIns="0" tIns="0" rIns="0" bIns="0" rtlCol="0" anchor="ctr"/>
          <a:lstStyle/>
          <a:p>
            <a:pPr marL="0" indent="0">
              <a:buNone/>
            </a:pPr>
            <a:r>
              <a:rPr lang="en-US" b="1" dirty="0">
                <a:solidFill>
                  <a:srgbClr val="3A2E28"/>
                </a:solidFill>
                <a:latin typeface="Calibri" pitchFamily="34" charset="0"/>
                <a:ea typeface="Calibri" pitchFamily="34" charset="-122"/>
                <a:cs typeface="Calibri" pitchFamily="34" charset="-120"/>
              </a:rPr>
              <a:t>Human &amp; economic cost</a:t>
            </a:r>
            <a:endParaRPr lang="en-US" dirty="0"/>
          </a:p>
        </p:txBody>
      </p:sp>
      <p:sp>
        <p:nvSpPr>
          <p:cNvPr id="7" name="Text 5"/>
          <p:cNvSpPr txBox="1"/>
          <p:nvPr/>
        </p:nvSpPr>
        <p:spPr>
          <a:xfrm>
            <a:off x="1508760" y="1902311"/>
            <a:ext cx="4430357" cy="1278366"/>
          </a:xfrm>
          <a:prstGeom prst="rect">
            <a:avLst/>
          </a:prstGeom>
          <a:noFill/>
          <a:ln/>
        </p:spPr>
        <p:txBody>
          <a:bodyPr wrap="square" lIns="0" tIns="0" rIns="0" bIns="0" rtlCol="0" anchor="ctr"/>
          <a:lstStyle/>
          <a:p>
            <a:pPr marL="0" indent="0">
              <a:lnSpc>
                <a:spcPct val="125000"/>
              </a:lnSpc>
              <a:buNone/>
            </a:pPr>
            <a:r>
              <a:rPr lang="en-US" sz="1600" dirty="0">
                <a:solidFill>
                  <a:srgbClr val="2B2B2B"/>
                </a:solidFill>
                <a:latin typeface="Calibri"/>
                <a:ea typeface="Calibri"/>
                <a:cs typeface="Calibri"/>
              </a:rPr>
              <a:t>Landslides in Kerala regularly damage homes, roads, agriculture and claim lives — most severely during intense monsoon rainfall spells.</a:t>
            </a:r>
            <a:endParaRPr lang="en-US" sz="1600">
              <a:latin typeface="Calibri"/>
              <a:ea typeface="Calibri"/>
              <a:cs typeface="Calibri"/>
            </a:endParaRPr>
          </a:p>
        </p:txBody>
      </p:sp>
      <p:sp>
        <p:nvSpPr>
          <p:cNvPr id="8" name="Shape 6"/>
          <p:cNvSpPr/>
          <p:nvPr/>
        </p:nvSpPr>
        <p:spPr>
          <a:xfrm>
            <a:off x="6217920" y="1371600"/>
            <a:ext cx="5394960" cy="2103120"/>
          </a:xfrm>
          <a:prstGeom prst="rect">
            <a:avLst/>
          </a:prstGeom>
          <a:solidFill>
            <a:srgbClr val="F7F5F0"/>
          </a:solidFill>
          <a:ln/>
        </p:spPr>
      </p:sp>
      <p:sp>
        <p:nvSpPr>
          <p:cNvPr id="9" name="Shape 7"/>
          <p:cNvSpPr/>
          <p:nvPr/>
        </p:nvSpPr>
        <p:spPr>
          <a:xfrm>
            <a:off x="6492240" y="1645920"/>
            <a:ext cx="502920" cy="502920"/>
          </a:xfrm>
          <a:prstGeom prst="ellipse">
            <a:avLst/>
          </a:prstGeom>
          <a:solidFill>
            <a:srgbClr val="B85042"/>
          </a:solidFill>
          <a:ln/>
        </p:spPr>
      </p:sp>
      <p:sp>
        <p:nvSpPr>
          <p:cNvPr id="10" name="Text 8"/>
          <p:cNvSpPr txBox="1"/>
          <p:nvPr/>
        </p:nvSpPr>
        <p:spPr>
          <a:xfrm>
            <a:off x="6492240" y="164592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2</a:t>
            </a:r>
            <a:endParaRPr lang="en-US" sz="1650" dirty="0"/>
          </a:p>
        </p:txBody>
      </p:sp>
      <p:sp>
        <p:nvSpPr>
          <p:cNvPr id="11" name="Text 9"/>
          <p:cNvSpPr txBox="1"/>
          <p:nvPr/>
        </p:nvSpPr>
        <p:spPr>
          <a:xfrm>
            <a:off x="7178040" y="1627632"/>
            <a:ext cx="4206240" cy="502920"/>
          </a:xfrm>
          <a:prstGeom prst="rect">
            <a:avLst/>
          </a:prstGeom>
          <a:noFill/>
          <a:ln/>
        </p:spPr>
        <p:txBody>
          <a:bodyPr wrap="square" lIns="0" tIns="0" rIns="0" bIns="0" rtlCol="0" anchor="ctr"/>
          <a:lstStyle/>
          <a:p>
            <a:pPr marL="0" indent="0">
              <a:buNone/>
            </a:pPr>
            <a:r>
              <a:rPr lang="en-US" b="1" dirty="0">
                <a:solidFill>
                  <a:srgbClr val="3A2E28"/>
                </a:solidFill>
                <a:latin typeface="Calibri" pitchFamily="34" charset="0"/>
                <a:ea typeface="Calibri" pitchFamily="34" charset="-122"/>
                <a:cs typeface="Calibri" pitchFamily="34" charset="-120"/>
              </a:rPr>
              <a:t>Rainfall is the trigger, but rarely modeled directly</a:t>
            </a:r>
            <a:endParaRPr lang="en-US" dirty="0"/>
          </a:p>
        </p:txBody>
      </p:sp>
      <p:sp>
        <p:nvSpPr>
          <p:cNvPr id="12" name="Text 10"/>
          <p:cNvSpPr txBox="1"/>
          <p:nvPr/>
        </p:nvSpPr>
        <p:spPr>
          <a:xfrm>
            <a:off x="7178040" y="1991958"/>
            <a:ext cx="4206240" cy="1188720"/>
          </a:xfrm>
          <a:prstGeom prst="rect">
            <a:avLst/>
          </a:prstGeom>
          <a:noFill/>
          <a:ln/>
        </p:spPr>
        <p:txBody>
          <a:bodyPr wrap="square" lIns="0" tIns="0" rIns="0" bIns="0" rtlCol="0" anchor="ctr"/>
          <a:lstStyle/>
          <a:p>
            <a:pPr marL="0" indent="0">
              <a:lnSpc>
                <a:spcPct val="125000"/>
              </a:lnSpc>
              <a:buNone/>
            </a:pPr>
            <a:r>
              <a:rPr lang="en-US" sz="1600" dirty="0">
                <a:solidFill>
                  <a:srgbClr val="2B2B2B"/>
                </a:solidFill>
                <a:latin typeface="Calibri"/>
                <a:ea typeface="Calibri"/>
                <a:cs typeface="Calibri"/>
              </a:rPr>
              <a:t>Most susceptibility mapping is terrain-only. Actual rainfall exposure at the time and place of each landslide is often left out of the picture.</a:t>
            </a:r>
            <a:endParaRPr lang="en-US" sz="1600">
              <a:latin typeface="Calibri"/>
              <a:ea typeface="Calibri"/>
              <a:cs typeface="Calibri"/>
            </a:endParaRPr>
          </a:p>
        </p:txBody>
      </p:sp>
      <p:sp>
        <p:nvSpPr>
          <p:cNvPr id="13" name="Shape 11"/>
          <p:cNvSpPr/>
          <p:nvPr/>
        </p:nvSpPr>
        <p:spPr>
          <a:xfrm>
            <a:off x="548640" y="3703320"/>
            <a:ext cx="5394960" cy="2103120"/>
          </a:xfrm>
          <a:prstGeom prst="rect">
            <a:avLst/>
          </a:prstGeom>
          <a:solidFill>
            <a:srgbClr val="F7F5F0"/>
          </a:solidFill>
          <a:ln/>
        </p:spPr>
      </p:sp>
      <p:sp>
        <p:nvSpPr>
          <p:cNvPr id="14" name="Shape 12"/>
          <p:cNvSpPr/>
          <p:nvPr/>
        </p:nvSpPr>
        <p:spPr>
          <a:xfrm>
            <a:off x="822960" y="3977640"/>
            <a:ext cx="502920" cy="502920"/>
          </a:xfrm>
          <a:prstGeom prst="ellipse">
            <a:avLst/>
          </a:prstGeom>
          <a:solidFill>
            <a:srgbClr val="B85042"/>
          </a:solidFill>
          <a:ln/>
        </p:spPr>
      </p:sp>
      <p:sp>
        <p:nvSpPr>
          <p:cNvPr id="15" name="Text 13"/>
          <p:cNvSpPr txBox="1"/>
          <p:nvPr/>
        </p:nvSpPr>
        <p:spPr>
          <a:xfrm>
            <a:off x="822960" y="3977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3</a:t>
            </a:r>
            <a:endParaRPr lang="en-US" sz="1650" dirty="0"/>
          </a:p>
        </p:txBody>
      </p:sp>
      <p:sp>
        <p:nvSpPr>
          <p:cNvPr id="16" name="Text 14"/>
          <p:cNvSpPr txBox="1"/>
          <p:nvPr/>
        </p:nvSpPr>
        <p:spPr>
          <a:xfrm>
            <a:off x="1508760" y="3959352"/>
            <a:ext cx="4206240" cy="502920"/>
          </a:xfrm>
          <a:prstGeom prst="rect">
            <a:avLst/>
          </a:prstGeom>
          <a:noFill/>
          <a:ln/>
        </p:spPr>
        <p:txBody>
          <a:bodyPr wrap="square" lIns="0" tIns="0" rIns="0" bIns="0" rtlCol="0" anchor="ctr"/>
          <a:lstStyle/>
          <a:p>
            <a:pPr marL="0" indent="0">
              <a:buNone/>
            </a:pPr>
            <a:r>
              <a:rPr lang="en-US" b="1" dirty="0">
                <a:solidFill>
                  <a:srgbClr val="3A2E28"/>
                </a:solidFill>
                <a:latin typeface="Calibri" pitchFamily="34" charset="0"/>
                <a:ea typeface="Calibri" pitchFamily="34" charset="-122"/>
                <a:cs typeface="Calibri" pitchFamily="34" charset="-120"/>
              </a:rPr>
              <a:t>Landslides are not all the same</a:t>
            </a:r>
            <a:endParaRPr lang="en-US" dirty="0"/>
          </a:p>
        </p:txBody>
      </p:sp>
      <p:sp>
        <p:nvSpPr>
          <p:cNvPr id="17" name="Text 15"/>
          <p:cNvSpPr txBox="1"/>
          <p:nvPr/>
        </p:nvSpPr>
        <p:spPr>
          <a:xfrm>
            <a:off x="1508760" y="4458149"/>
            <a:ext cx="4217445" cy="1188720"/>
          </a:xfrm>
          <a:prstGeom prst="rect">
            <a:avLst/>
          </a:prstGeom>
          <a:noFill/>
          <a:ln/>
        </p:spPr>
        <p:txBody>
          <a:bodyPr wrap="square" lIns="0" tIns="0" rIns="0" bIns="0" rtlCol="0" anchor="ctr"/>
          <a:lstStyle/>
          <a:p>
            <a:pPr marL="0" indent="0">
              <a:lnSpc>
                <a:spcPct val="125000"/>
              </a:lnSpc>
              <a:buNone/>
            </a:pPr>
            <a:r>
              <a:rPr lang="en-US" sz="1600" dirty="0">
                <a:solidFill>
                  <a:srgbClr val="2B2B2B"/>
                </a:solidFill>
                <a:latin typeface="Calibri"/>
                <a:ea typeface="Calibri"/>
                <a:cs typeface="Calibri"/>
              </a:rPr>
              <a:t>Debris flows, shallow slides, and rockfalls have different mechanisms and different mitigation needs — treating them as one category hides useful structure.</a:t>
            </a:r>
            <a:endParaRPr lang="en-US" sz="1600">
              <a:latin typeface="Calibri"/>
              <a:ea typeface="Calibri"/>
              <a:cs typeface="Calibri"/>
            </a:endParaRPr>
          </a:p>
        </p:txBody>
      </p:sp>
      <p:sp>
        <p:nvSpPr>
          <p:cNvPr id="18" name="Shape 16"/>
          <p:cNvSpPr/>
          <p:nvPr/>
        </p:nvSpPr>
        <p:spPr>
          <a:xfrm>
            <a:off x="6217920" y="3703320"/>
            <a:ext cx="5394960" cy="2103120"/>
          </a:xfrm>
          <a:prstGeom prst="rect">
            <a:avLst/>
          </a:prstGeom>
          <a:solidFill>
            <a:srgbClr val="F7F5F0"/>
          </a:solidFill>
          <a:ln/>
        </p:spPr>
      </p:sp>
      <p:sp>
        <p:nvSpPr>
          <p:cNvPr id="19" name="Shape 17"/>
          <p:cNvSpPr/>
          <p:nvPr/>
        </p:nvSpPr>
        <p:spPr>
          <a:xfrm>
            <a:off x="6492240" y="3977640"/>
            <a:ext cx="502920" cy="502920"/>
          </a:xfrm>
          <a:prstGeom prst="ellipse">
            <a:avLst/>
          </a:prstGeom>
          <a:solidFill>
            <a:srgbClr val="B85042"/>
          </a:solidFill>
          <a:ln/>
        </p:spPr>
      </p:sp>
      <p:sp>
        <p:nvSpPr>
          <p:cNvPr id="20" name="Text 18"/>
          <p:cNvSpPr txBox="1"/>
          <p:nvPr/>
        </p:nvSpPr>
        <p:spPr>
          <a:xfrm>
            <a:off x="6492240" y="3977640"/>
            <a:ext cx="502920" cy="50292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4</a:t>
            </a:r>
            <a:endParaRPr lang="en-US" sz="1650" dirty="0"/>
          </a:p>
        </p:txBody>
      </p:sp>
      <p:sp>
        <p:nvSpPr>
          <p:cNvPr id="21" name="Text 19"/>
          <p:cNvSpPr txBox="1"/>
          <p:nvPr/>
        </p:nvSpPr>
        <p:spPr>
          <a:xfrm>
            <a:off x="7178040" y="3959352"/>
            <a:ext cx="4206240" cy="502920"/>
          </a:xfrm>
          <a:prstGeom prst="rect">
            <a:avLst/>
          </a:prstGeom>
          <a:noFill/>
          <a:ln/>
        </p:spPr>
        <p:txBody>
          <a:bodyPr wrap="square" lIns="0" tIns="0" rIns="0" bIns="0" rtlCol="0" anchor="ctr"/>
          <a:lstStyle/>
          <a:p>
            <a:pPr marL="0" indent="0">
              <a:buNone/>
            </a:pPr>
            <a:r>
              <a:rPr lang="en-US" b="1" dirty="0">
                <a:solidFill>
                  <a:srgbClr val="3A2E28"/>
                </a:solidFill>
                <a:latin typeface="Calibri" pitchFamily="34" charset="0"/>
                <a:ea typeface="Calibri" pitchFamily="34" charset="-122"/>
                <a:cs typeface="Calibri" pitchFamily="34" charset="-120"/>
              </a:rPr>
              <a:t>A genuine, honest data science opportunity</a:t>
            </a:r>
            <a:endParaRPr lang="en-US" dirty="0"/>
          </a:p>
        </p:txBody>
      </p:sp>
      <p:sp>
        <p:nvSpPr>
          <p:cNvPr id="22" name="Text 20"/>
          <p:cNvSpPr txBox="1"/>
          <p:nvPr/>
        </p:nvSpPr>
        <p:spPr>
          <a:xfrm>
            <a:off x="7144422" y="4446943"/>
            <a:ext cx="4463975" cy="1199925"/>
          </a:xfrm>
          <a:prstGeom prst="rect">
            <a:avLst/>
          </a:prstGeom>
          <a:noFill/>
          <a:ln/>
        </p:spPr>
        <p:txBody>
          <a:bodyPr wrap="square" lIns="0" tIns="0" rIns="0" bIns="0" rtlCol="0" anchor="ctr"/>
          <a:lstStyle/>
          <a:p>
            <a:pPr marL="0" indent="0">
              <a:lnSpc>
                <a:spcPct val="125000"/>
              </a:lnSpc>
              <a:buNone/>
            </a:pPr>
            <a:r>
              <a:rPr lang="en-US" sz="1600" dirty="0">
                <a:solidFill>
                  <a:srgbClr val="2B2B2B"/>
                </a:solidFill>
                <a:latin typeface="Calibri"/>
                <a:ea typeface="Calibri"/>
                <a:cs typeface="Calibri"/>
              </a:rPr>
              <a:t>Kerala's 2018 inventory, rainfall records, and susceptibility layers already exist — they simply haven't been integrated and analyzed together at this scale.</a:t>
            </a:r>
            <a:endParaRPr lang="en-US" sz="1600">
              <a:latin typeface="Calibri"/>
              <a:ea typeface="Calibri"/>
              <a:cs typeface="Calibri"/>
            </a:endParaRPr>
          </a:p>
        </p:txBody>
      </p:sp>
      <p:sp>
        <p:nvSpPr>
          <p:cNvPr id="23" name="Text 21"/>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4" name="Text 22"/>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Research Gap &amp; Framing</a:t>
            </a:r>
            <a:endParaRPr lang="en-US" sz="3000" dirty="0"/>
          </a:p>
        </p:txBody>
      </p:sp>
      <p:sp>
        <p:nvSpPr>
          <p:cNvPr id="3" name="Shape 1"/>
          <p:cNvSpPr/>
          <p:nvPr/>
        </p:nvSpPr>
        <p:spPr>
          <a:xfrm>
            <a:off x="537435" y="1280160"/>
            <a:ext cx="11097856" cy="1518172"/>
          </a:xfrm>
          <a:prstGeom prst="rect">
            <a:avLst/>
          </a:prstGeom>
          <a:solidFill>
            <a:srgbClr val="E7E8D1"/>
          </a:solidFill>
          <a:ln/>
        </p:spPr>
      </p:sp>
      <p:sp>
        <p:nvSpPr>
          <p:cNvPr id="4" name="Text 2"/>
          <p:cNvSpPr txBox="1"/>
          <p:nvPr/>
        </p:nvSpPr>
        <p:spPr>
          <a:xfrm>
            <a:off x="822960" y="1417320"/>
            <a:ext cx="10515600" cy="365760"/>
          </a:xfrm>
          <a:prstGeom prst="rect">
            <a:avLst/>
          </a:prstGeom>
          <a:noFill/>
          <a:ln/>
        </p:spPr>
        <p:txBody>
          <a:bodyPr wrap="square" lIns="0" tIns="0" rIns="0" bIns="0" rtlCol="0" anchor="ctr"/>
          <a:lstStyle/>
          <a:p>
            <a:r>
              <a:rPr lang="en-US" sz="1600" b="1">
                <a:solidFill>
                  <a:srgbClr val="3A2E28"/>
                </a:solidFill>
                <a:latin typeface="Calibri"/>
                <a:ea typeface="Calibri"/>
                <a:cs typeface="Calibri"/>
              </a:rPr>
              <a:t>Why I did NOT build an occurrence prediction model</a:t>
            </a:r>
            <a:endParaRPr lang="en-US" sz="1600">
              <a:latin typeface="Calibri"/>
              <a:ea typeface="Calibri"/>
              <a:cs typeface="Calibri"/>
            </a:endParaRPr>
          </a:p>
        </p:txBody>
      </p:sp>
      <p:sp>
        <p:nvSpPr>
          <p:cNvPr id="5" name="Text 3"/>
          <p:cNvSpPr txBox="1"/>
          <p:nvPr/>
        </p:nvSpPr>
        <p:spPr>
          <a:xfrm>
            <a:off x="856577" y="1783080"/>
            <a:ext cx="11042277" cy="890195"/>
          </a:xfrm>
          <a:prstGeom prst="rect">
            <a:avLst/>
          </a:prstGeom>
          <a:noFill/>
          <a:ln/>
        </p:spPr>
        <p:txBody>
          <a:bodyPr wrap="square" lIns="0" tIns="0" rIns="0" bIns="0" rtlCol="0" anchor="ctr"/>
          <a:lstStyle/>
          <a:p>
            <a:pPr>
              <a:lnSpc>
                <a:spcPct val="125000"/>
              </a:lnSpc>
            </a:pPr>
            <a:r>
              <a:rPr lang="en-US" dirty="0">
                <a:solidFill>
                  <a:srgbClr val="2B2B2B"/>
                </a:solidFill>
                <a:latin typeface="Calibri"/>
                <a:ea typeface="Calibri"/>
                <a:cs typeface="Calibri"/>
              </a:rPr>
              <a:t>The 2018 inventory contains only confirmed landslide locations — no reliable "landslide did not happen here" (negative) samples. Building a landslide-vs-non-landslide classifier without proper background sampling would be scientifically </a:t>
            </a:r>
            <a:r>
              <a:rPr lang="en-US">
                <a:solidFill>
                  <a:srgbClr val="2B2B2B"/>
                </a:solidFill>
                <a:latin typeface="Calibri"/>
                <a:ea typeface="Calibri"/>
                <a:cs typeface="Calibri"/>
              </a:rPr>
              <a:t>indefensible, so I deliberately avoided it.</a:t>
            </a:r>
            <a:endParaRPr lang="en-US">
              <a:latin typeface="Calibri"/>
              <a:ea typeface="Calibri"/>
              <a:cs typeface="Calibri"/>
            </a:endParaRPr>
          </a:p>
        </p:txBody>
      </p:sp>
      <p:sp>
        <p:nvSpPr>
          <p:cNvPr id="6" name="Text 4"/>
          <p:cNvSpPr txBox="1"/>
          <p:nvPr/>
        </p:nvSpPr>
        <p:spPr>
          <a:xfrm>
            <a:off x="548640" y="2926080"/>
            <a:ext cx="5486400" cy="365760"/>
          </a:xfrm>
          <a:prstGeom prst="rect">
            <a:avLst/>
          </a:prstGeom>
          <a:noFill/>
          <a:ln/>
        </p:spPr>
        <p:txBody>
          <a:bodyPr wrap="square" lIns="0" tIns="0" rIns="0" bIns="0" rtlCol="0" anchor="ctr"/>
          <a:lstStyle/>
          <a:p>
            <a:r>
              <a:rPr lang="en-US" sz="1600" b="1">
                <a:solidFill>
                  <a:srgbClr val="B85042"/>
                </a:solidFill>
                <a:latin typeface="Calibri"/>
                <a:ea typeface="Calibri"/>
                <a:cs typeface="Calibri"/>
              </a:rPr>
              <a:t>Instead, my research question:</a:t>
            </a:r>
            <a:endParaRPr lang="en-US" sz="1600">
              <a:latin typeface="Calibri"/>
              <a:ea typeface="Calibri"/>
              <a:cs typeface="Calibri"/>
            </a:endParaRPr>
          </a:p>
        </p:txBody>
      </p:sp>
      <p:sp>
        <p:nvSpPr>
          <p:cNvPr id="7" name="Shape 5"/>
          <p:cNvSpPr/>
          <p:nvPr/>
        </p:nvSpPr>
        <p:spPr>
          <a:xfrm>
            <a:off x="548640" y="3337560"/>
            <a:ext cx="11064240" cy="1051560"/>
          </a:xfrm>
          <a:prstGeom prst="rect">
            <a:avLst/>
          </a:prstGeom>
          <a:solidFill>
            <a:srgbClr val="3A2E28"/>
          </a:solidFill>
          <a:ln/>
        </p:spPr>
      </p:sp>
      <p:sp>
        <p:nvSpPr>
          <p:cNvPr id="8" name="Text 6"/>
          <p:cNvSpPr txBox="1"/>
          <p:nvPr/>
        </p:nvSpPr>
        <p:spPr>
          <a:xfrm>
            <a:off x="868680" y="3337560"/>
            <a:ext cx="10424160" cy="1051560"/>
          </a:xfrm>
          <a:prstGeom prst="rect">
            <a:avLst/>
          </a:prstGeom>
          <a:noFill/>
          <a:ln/>
        </p:spPr>
        <p:txBody>
          <a:bodyPr wrap="square" lIns="0" tIns="0" rIns="0" bIns="0" rtlCol="0" anchor="ctr"/>
          <a:lstStyle/>
          <a:p>
            <a:pPr algn="ctr"/>
            <a:r>
              <a:rPr lang="en-US" i="1" dirty="0">
                <a:solidFill>
                  <a:srgbClr val="FFFFFF"/>
                </a:solidFill>
                <a:latin typeface="Cambria"/>
                <a:ea typeface="Cambria"/>
                <a:cs typeface="+mn-lt"/>
              </a:rPr>
              <a:t>“Can rainfall and land-use information provide additional predictive insight beyond existing GSI susceptibility — in distinguishing the type of landslide mechanism observed?”</a:t>
            </a:r>
            <a:endParaRPr lang="en-US">
              <a:latin typeface="Cambria"/>
              <a:ea typeface="Cambria"/>
              <a:cs typeface="Calibri"/>
            </a:endParaRPr>
          </a:p>
        </p:txBody>
      </p:sp>
      <p:sp>
        <p:nvSpPr>
          <p:cNvPr id="9" name="Text 7"/>
          <p:cNvSpPr txBox="1"/>
          <p:nvPr/>
        </p:nvSpPr>
        <p:spPr>
          <a:xfrm>
            <a:off x="537434" y="4663440"/>
            <a:ext cx="11109064" cy="1005840"/>
          </a:xfrm>
          <a:prstGeom prst="rect">
            <a:avLst/>
          </a:prstGeom>
          <a:noFill/>
          <a:ln/>
        </p:spPr>
        <p:txBody>
          <a:bodyPr wrap="square" lIns="0" tIns="0" rIns="0" bIns="0" rtlCol="0" anchor="ctr"/>
          <a:lstStyle/>
          <a:p>
            <a:pPr marL="0" indent="0">
              <a:lnSpc>
                <a:spcPct val="130000"/>
              </a:lnSpc>
              <a:buNone/>
            </a:pPr>
            <a:r>
              <a:rPr lang="en-US" sz="2000" dirty="0">
                <a:solidFill>
                  <a:srgbClr val="2B2B2B"/>
                </a:solidFill>
                <a:latin typeface="Calibri"/>
                <a:ea typeface="Calibri"/>
                <a:cs typeface="Calibri"/>
              </a:rPr>
              <a:t>This is answered through a </a:t>
            </a:r>
            <a:r>
              <a:rPr lang="en-US" sz="2000" b="1" dirty="0">
                <a:solidFill>
                  <a:srgbClr val="B85042"/>
                </a:solidFill>
                <a:latin typeface="Calibri"/>
                <a:ea typeface="Calibri"/>
                <a:cs typeface="Calibri"/>
              </a:rPr>
              <a:t>legitimate supervised multiclass classification task</a:t>
            </a:r>
            <a:r>
              <a:rPr lang="en-US" sz="2000" dirty="0">
                <a:solidFill>
                  <a:srgbClr val="2B2B2B"/>
                </a:solidFill>
                <a:latin typeface="Calibri"/>
                <a:ea typeface="Calibri"/>
                <a:cs typeface="Calibri"/>
              </a:rPr>
              <a:t>: predicting landslide type (Debris Flow / Shallow Slide / Rockfall) from environmental, pre-event characteristics — a task fully supported by the ground-truth labels already present in the inventory.</a:t>
            </a:r>
            <a:endParaRPr lang="en-US" sz="2000">
              <a:latin typeface="Calibri"/>
              <a:ea typeface="Calibri"/>
              <a:cs typeface="Calibri"/>
            </a:endParaRPr>
          </a:p>
        </p:txBody>
      </p:sp>
      <p:sp>
        <p:nvSpPr>
          <p:cNvPr id="10"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1" name="Text 9"/>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Proposed Approach</a:t>
            </a:r>
            <a:endParaRPr lang="en-US" sz="3000" dirty="0"/>
          </a:p>
        </p:txBody>
      </p:sp>
      <p:sp>
        <p:nvSpPr>
          <p:cNvPr id="3" name="Shape 1"/>
          <p:cNvSpPr/>
          <p:nvPr/>
        </p:nvSpPr>
        <p:spPr>
          <a:xfrm>
            <a:off x="548640" y="1463040"/>
            <a:ext cx="2606040" cy="2834640"/>
          </a:xfrm>
          <a:prstGeom prst="rect">
            <a:avLst/>
          </a:prstGeom>
          <a:solidFill>
            <a:srgbClr val="E7E8D1"/>
          </a:solidFill>
          <a:ln/>
        </p:spPr>
      </p:sp>
      <p:sp>
        <p:nvSpPr>
          <p:cNvPr id="4" name="Shape 2"/>
          <p:cNvSpPr/>
          <p:nvPr/>
        </p:nvSpPr>
        <p:spPr>
          <a:xfrm>
            <a:off x="1481328" y="1691640"/>
            <a:ext cx="731520" cy="731520"/>
          </a:xfrm>
          <a:prstGeom prst="ellipse">
            <a:avLst/>
          </a:prstGeom>
          <a:solidFill>
            <a:srgbClr val="B85042"/>
          </a:solidFill>
          <a:ln/>
        </p:spPr>
      </p:sp>
      <p:sp>
        <p:nvSpPr>
          <p:cNvPr id="5" name="Text 3"/>
          <p:cNvSpPr txBox="1"/>
          <p:nvPr/>
        </p:nvSpPr>
        <p:spPr>
          <a:xfrm>
            <a:off x="1481328" y="169164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548640" y="2538805"/>
            <a:ext cx="2606040" cy="365760"/>
          </a:xfrm>
          <a:prstGeom prst="rect">
            <a:avLst/>
          </a:prstGeom>
          <a:noFill/>
          <a:ln/>
        </p:spPr>
        <p:txBody>
          <a:bodyPr wrap="square" lIns="0" tIns="0" rIns="0" bIns="0" rtlCol="0" anchor="ctr"/>
          <a:lstStyle/>
          <a:p>
            <a:pPr marL="0" indent="0" algn="ctr">
              <a:buNone/>
            </a:pPr>
            <a:r>
              <a:rPr lang="en-US" sz="1500" b="1" dirty="0">
                <a:solidFill>
                  <a:srgbClr val="3A2E28"/>
                </a:solidFill>
                <a:latin typeface="Calibri" pitchFamily="34" charset="0"/>
                <a:ea typeface="Calibri" pitchFamily="34" charset="-122"/>
                <a:cs typeface="Calibri" pitchFamily="34" charset="-120"/>
              </a:rPr>
              <a:t>Integrate</a:t>
            </a:r>
            <a:endParaRPr lang="en-US" sz="1500" dirty="0"/>
          </a:p>
        </p:txBody>
      </p:sp>
      <p:sp>
        <p:nvSpPr>
          <p:cNvPr id="7" name="Text 5"/>
          <p:cNvSpPr txBox="1"/>
          <p:nvPr/>
        </p:nvSpPr>
        <p:spPr>
          <a:xfrm>
            <a:off x="731520" y="3017520"/>
            <a:ext cx="2240280" cy="1188720"/>
          </a:xfrm>
          <a:prstGeom prst="rect">
            <a:avLst/>
          </a:prstGeom>
          <a:noFill/>
          <a:ln/>
        </p:spPr>
        <p:txBody>
          <a:bodyPr wrap="square" lIns="0" tIns="0" rIns="0" bIns="0" rtlCol="0" anchor="ctr"/>
          <a:lstStyle/>
          <a:p>
            <a:pPr marL="0" indent="0" algn="ctr">
              <a:lnSpc>
                <a:spcPct val="120000"/>
              </a:lnSpc>
              <a:buNone/>
            </a:pPr>
            <a:r>
              <a:rPr lang="en-US" sz="1600" dirty="0">
                <a:solidFill>
                  <a:srgbClr val="2B2B2B"/>
                </a:solidFill>
                <a:latin typeface="Calibri" pitchFamily="34" charset="0"/>
                <a:ea typeface="Calibri" pitchFamily="34" charset="-122"/>
                <a:cs typeface="Calibri" pitchFamily="34" charset="-120"/>
              </a:rPr>
              <a:t>Spatial data fusion in QGIS — rainfall, GSI susceptibility, land use joined to every landslide point</a:t>
            </a:r>
            <a:endParaRPr lang="en-US" sz="1600" dirty="0"/>
          </a:p>
        </p:txBody>
      </p:sp>
      <p:sp>
        <p:nvSpPr>
          <p:cNvPr id="8" name="Text 6"/>
          <p:cNvSpPr txBox="1"/>
          <p:nvPr/>
        </p:nvSpPr>
        <p:spPr>
          <a:xfrm>
            <a:off x="3154680" y="2331720"/>
            <a:ext cx="256032" cy="548640"/>
          </a:xfrm>
          <a:prstGeom prst="rect">
            <a:avLst/>
          </a:prstGeom>
          <a:noFill/>
          <a:ln/>
        </p:spPr>
        <p:txBody>
          <a:bodyPr wrap="square" lIns="0" tIns="0" rIns="0" bIns="0" rtlCol="0" anchor="ctr"/>
          <a:lstStyle/>
          <a:p>
            <a:pPr marL="0" indent="0" algn="ctr">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410712" y="1463040"/>
            <a:ext cx="2606040" cy="2834640"/>
          </a:xfrm>
          <a:prstGeom prst="rect">
            <a:avLst/>
          </a:prstGeom>
          <a:solidFill>
            <a:srgbClr val="F7F5F0"/>
          </a:solidFill>
          <a:ln/>
        </p:spPr>
      </p:sp>
      <p:sp>
        <p:nvSpPr>
          <p:cNvPr id="10" name="Shape 8"/>
          <p:cNvSpPr/>
          <p:nvPr/>
        </p:nvSpPr>
        <p:spPr>
          <a:xfrm>
            <a:off x="4343400" y="1691640"/>
            <a:ext cx="731520" cy="731520"/>
          </a:xfrm>
          <a:prstGeom prst="ellipse">
            <a:avLst/>
          </a:prstGeom>
          <a:solidFill>
            <a:srgbClr val="B85042"/>
          </a:solidFill>
          <a:ln/>
        </p:spPr>
      </p:sp>
      <p:sp>
        <p:nvSpPr>
          <p:cNvPr id="11" name="Text 9"/>
          <p:cNvSpPr txBox="1"/>
          <p:nvPr/>
        </p:nvSpPr>
        <p:spPr>
          <a:xfrm>
            <a:off x="4343400" y="169164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3410712" y="2538805"/>
            <a:ext cx="2606040" cy="365760"/>
          </a:xfrm>
          <a:prstGeom prst="rect">
            <a:avLst/>
          </a:prstGeom>
          <a:noFill/>
          <a:ln/>
        </p:spPr>
        <p:txBody>
          <a:bodyPr wrap="square" lIns="0" tIns="0" rIns="0" bIns="0" rtlCol="0" anchor="ctr"/>
          <a:lstStyle/>
          <a:p>
            <a:pPr marL="0" indent="0" algn="ctr">
              <a:buNone/>
            </a:pPr>
            <a:r>
              <a:rPr lang="en-US" sz="1500" b="1" dirty="0">
                <a:solidFill>
                  <a:srgbClr val="3A2E28"/>
                </a:solidFill>
                <a:latin typeface="Calibri" pitchFamily="34" charset="0"/>
                <a:ea typeface="Calibri" pitchFamily="34" charset="-122"/>
                <a:cs typeface="Calibri" pitchFamily="34" charset="-120"/>
              </a:rPr>
              <a:t>Engineer</a:t>
            </a:r>
            <a:endParaRPr lang="en-US" sz="1500" dirty="0"/>
          </a:p>
        </p:txBody>
      </p:sp>
      <p:sp>
        <p:nvSpPr>
          <p:cNvPr id="13" name="Text 11"/>
          <p:cNvSpPr txBox="1"/>
          <p:nvPr/>
        </p:nvSpPr>
        <p:spPr>
          <a:xfrm>
            <a:off x="3593592" y="3017520"/>
            <a:ext cx="2240280" cy="1188720"/>
          </a:xfrm>
          <a:prstGeom prst="rect">
            <a:avLst/>
          </a:prstGeom>
          <a:noFill/>
          <a:ln/>
        </p:spPr>
        <p:txBody>
          <a:bodyPr wrap="square" lIns="0" tIns="0" rIns="0" bIns="0" rtlCol="0" anchor="ctr"/>
          <a:lstStyle/>
          <a:p>
            <a:pPr marL="0" indent="0" algn="ctr">
              <a:lnSpc>
                <a:spcPct val="120000"/>
              </a:lnSpc>
              <a:buNone/>
            </a:pPr>
            <a:r>
              <a:rPr lang="en-US" sz="1600" dirty="0">
                <a:solidFill>
                  <a:srgbClr val="2B2B2B"/>
                </a:solidFill>
                <a:latin typeface="Calibri" pitchFamily="34" charset="0"/>
                <a:ea typeface="Calibri" pitchFamily="34" charset="-122"/>
                <a:cs typeface="Calibri" pitchFamily="34" charset="-120"/>
              </a:rPr>
              <a:t>Select honest, pre-event environmental predictors; remove any post-event / outcome fields</a:t>
            </a:r>
            <a:endParaRPr lang="en-US" sz="1600" dirty="0"/>
          </a:p>
        </p:txBody>
      </p:sp>
      <p:sp>
        <p:nvSpPr>
          <p:cNvPr id="14" name="Text 12"/>
          <p:cNvSpPr txBox="1"/>
          <p:nvPr/>
        </p:nvSpPr>
        <p:spPr>
          <a:xfrm>
            <a:off x="6016752" y="2331720"/>
            <a:ext cx="256032" cy="548640"/>
          </a:xfrm>
          <a:prstGeom prst="rect">
            <a:avLst/>
          </a:prstGeom>
          <a:noFill/>
          <a:ln/>
        </p:spPr>
        <p:txBody>
          <a:bodyPr wrap="square" lIns="0" tIns="0" rIns="0" bIns="0" rtlCol="0" anchor="ctr"/>
          <a:lstStyle/>
          <a:p>
            <a:pPr marL="0" indent="0" algn="ctr">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272784" y="1463040"/>
            <a:ext cx="2606040" cy="2834640"/>
          </a:xfrm>
          <a:prstGeom prst="rect">
            <a:avLst/>
          </a:prstGeom>
          <a:solidFill>
            <a:srgbClr val="E7E8D1"/>
          </a:solidFill>
          <a:ln/>
        </p:spPr>
      </p:sp>
      <p:sp>
        <p:nvSpPr>
          <p:cNvPr id="16" name="Shape 14"/>
          <p:cNvSpPr/>
          <p:nvPr/>
        </p:nvSpPr>
        <p:spPr>
          <a:xfrm>
            <a:off x="7205472" y="1691640"/>
            <a:ext cx="731520" cy="731520"/>
          </a:xfrm>
          <a:prstGeom prst="ellipse">
            <a:avLst/>
          </a:prstGeom>
          <a:solidFill>
            <a:srgbClr val="B85042"/>
          </a:solidFill>
          <a:ln/>
        </p:spPr>
      </p:sp>
      <p:sp>
        <p:nvSpPr>
          <p:cNvPr id="17" name="Text 15"/>
          <p:cNvSpPr txBox="1"/>
          <p:nvPr/>
        </p:nvSpPr>
        <p:spPr>
          <a:xfrm>
            <a:off x="7205472" y="169164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Text 16"/>
          <p:cNvSpPr txBox="1"/>
          <p:nvPr/>
        </p:nvSpPr>
        <p:spPr>
          <a:xfrm>
            <a:off x="6272784" y="2538805"/>
            <a:ext cx="2606040" cy="365760"/>
          </a:xfrm>
          <a:prstGeom prst="rect">
            <a:avLst/>
          </a:prstGeom>
          <a:noFill/>
          <a:ln/>
        </p:spPr>
        <p:txBody>
          <a:bodyPr wrap="square" lIns="0" tIns="0" rIns="0" bIns="0" rtlCol="0" anchor="ctr"/>
          <a:lstStyle/>
          <a:p>
            <a:pPr marL="0" indent="0" algn="ctr">
              <a:buNone/>
            </a:pPr>
            <a:r>
              <a:rPr lang="en-US" sz="1500" b="1" dirty="0">
                <a:solidFill>
                  <a:srgbClr val="3A2E28"/>
                </a:solidFill>
                <a:latin typeface="Calibri" pitchFamily="34" charset="0"/>
                <a:ea typeface="Calibri" pitchFamily="34" charset="-122"/>
                <a:cs typeface="Calibri" pitchFamily="34" charset="-120"/>
              </a:rPr>
              <a:t>Model</a:t>
            </a:r>
            <a:endParaRPr lang="en-US" sz="1500" dirty="0"/>
          </a:p>
        </p:txBody>
      </p:sp>
      <p:sp>
        <p:nvSpPr>
          <p:cNvPr id="19" name="Text 17"/>
          <p:cNvSpPr txBox="1"/>
          <p:nvPr/>
        </p:nvSpPr>
        <p:spPr>
          <a:xfrm>
            <a:off x="6455664" y="3017520"/>
            <a:ext cx="2240280" cy="1188720"/>
          </a:xfrm>
          <a:prstGeom prst="rect">
            <a:avLst/>
          </a:prstGeom>
          <a:noFill/>
          <a:ln/>
        </p:spPr>
        <p:txBody>
          <a:bodyPr wrap="square" lIns="0" tIns="0" rIns="0" bIns="0" rtlCol="0" anchor="ctr"/>
          <a:lstStyle/>
          <a:p>
            <a:pPr marL="0" indent="0" algn="ctr">
              <a:lnSpc>
                <a:spcPct val="120000"/>
              </a:lnSpc>
              <a:buNone/>
            </a:pPr>
            <a:r>
              <a:rPr lang="en-US" sz="1600" dirty="0">
                <a:solidFill>
                  <a:srgbClr val="2B2B2B"/>
                </a:solidFill>
                <a:latin typeface="Calibri" pitchFamily="34" charset="0"/>
                <a:ea typeface="Calibri" pitchFamily="34" charset="-122"/>
                <a:cs typeface="Calibri" pitchFamily="34" charset="-120"/>
              </a:rPr>
              <a:t>Multiclass ML in Altair AI Studio (RapidMiner) — Decision Tree, Random Forest, Gradient Boosted Trees</a:t>
            </a:r>
            <a:endParaRPr lang="en-US" sz="1600" dirty="0"/>
          </a:p>
        </p:txBody>
      </p:sp>
      <p:sp>
        <p:nvSpPr>
          <p:cNvPr id="20" name="Text 18"/>
          <p:cNvSpPr txBox="1"/>
          <p:nvPr/>
        </p:nvSpPr>
        <p:spPr>
          <a:xfrm>
            <a:off x="8878824" y="2331720"/>
            <a:ext cx="256032" cy="548640"/>
          </a:xfrm>
          <a:prstGeom prst="rect">
            <a:avLst/>
          </a:prstGeom>
          <a:noFill/>
          <a:ln/>
        </p:spPr>
        <p:txBody>
          <a:bodyPr wrap="square" lIns="0" tIns="0" rIns="0" bIns="0" rtlCol="0" anchor="ctr"/>
          <a:lstStyle/>
          <a:p>
            <a:pPr marL="0" indent="0" algn="ctr">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9134856" y="1463040"/>
            <a:ext cx="2606040" cy="2834640"/>
          </a:xfrm>
          <a:prstGeom prst="rect">
            <a:avLst/>
          </a:prstGeom>
          <a:solidFill>
            <a:srgbClr val="F7F5F0"/>
          </a:solidFill>
          <a:ln/>
        </p:spPr>
      </p:sp>
      <p:sp>
        <p:nvSpPr>
          <p:cNvPr id="22" name="Shape 20"/>
          <p:cNvSpPr/>
          <p:nvPr/>
        </p:nvSpPr>
        <p:spPr>
          <a:xfrm>
            <a:off x="10067544" y="1691640"/>
            <a:ext cx="731520" cy="731520"/>
          </a:xfrm>
          <a:prstGeom prst="ellipse">
            <a:avLst/>
          </a:prstGeom>
          <a:solidFill>
            <a:srgbClr val="B85042"/>
          </a:solidFill>
          <a:ln/>
        </p:spPr>
      </p:sp>
      <p:sp>
        <p:nvSpPr>
          <p:cNvPr id="23" name="Text 21"/>
          <p:cNvSpPr txBox="1"/>
          <p:nvPr/>
        </p:nvSpPr>
        <p:spPr>
          <a:xfrm>
            <a:off x="10067544" y="1691640"/>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4" name="Text 22"/>
          <p:cNvSpPr txBox="1"/>
          <p:nvPr/>
        </p:nvSpPr>
        <p:spPr>
          <a:xfrm>
            <a:off x="9134856" y="2538805"/>
            <a:ext cx="2606040" cy="365760"/>
          </a:xfrm>
          <a:prstGeom prst="rect">
            <a:avLst/>
          </a:prstGeom>
          <a:noFill/>
          <a:ln/>
        </p:spPr>
        <p:txBody>
          <a:bodyPr wrap="square" lIns="0" tIns="0" rIns="0" bIns="0" rtlCol="0" anchor="ctr"/>
          <a:lstStyle/>
          <a:p>
            <a:pPr marL="0" indent="0" algn="ctr">
              <a:buNone/>
            </a:pPr>
            <a:r>
              <a:rPr lang="en-US" sz="1500" b="1" dirty="0">
                <a:solidFill>
                  <a:srgbClr val="3A2E28"/>
                </a:solidFill>
                <a:latin typeface="Calibri" pitchFamily="34" charset="0"/>
                <a:ea typeface="Calibri" pitchFamily="34" charset="-122"/>
                <a:cs typeface="Calibri" pitchFamily="34" charset="-120"/>
              </a:rPr>
              <a:t>Interpret</a:t>
            </a:r>
            <a:endParaRPr lang="en-US" sz="1500" dirty="0"/>
          </a:p>
        </p:txBody>
      </p:sp>
      <p:sp>
        <p:nvSpPr>
          <p:cNvPr id="25" name="Text 23"/>
          <p:cNvSpPr txBox="1"/>
          <p:nvPr/>
        </p:nvSpPr>
        <p:spPr>
          <a:xfrm>
            <a:off x="9317736" y="3017520"/>
            <a:ext cx="2240280" cy="1188720"/>
          </a:xfrm>
          <a:prstGeom prst="rect">
            <a:avLst/>
          </a:prstGeom>
          <a:noFill/>
          <a:ln/>
        </p:spPr>
        <p:txBody>
          <a:bodyPr wrap="square" lIns="0" tIns="0" rIns="0" bIns="0" rtlCol="0" anchor="ctr"/>
          <a:lstStyle/>
          <a:p>
            <a:pPr marL="0" indent="0" algn="ctr">
              <a:lnSpc>
                <a:spcPct val="120000"/>
              </a:lnSpc>
              <a:buNone/>
            </a:pPr>
            <a:r>
              <a:rPr lang="en-US" sz="1600" dirty="0">
                <a:solidFill>
                  <a:srgbClr val="2B2B2B"/>
                </a:solidFill>
                <a:latin typeface="Calibri" pitchFamily="34" charset="0"/>
                <a:ea typeface="Calibri" pitchFamily="34" charset="-122"/>
                <a:cs typeface="Calibri" pitchFamily="34" charset="-120"/>
              </a:rPr>
              <a:t>5-fold cross-validation, per-class metrics, feature importance — honest reporting of strengths &amp; limits</a:t>
            </a:r>
            <a:endParaRPr lang="en-US" sz="1600" dirty="0"/>
          </a:p>
        </p:txBody>
      </p:sp>
      <p:sp>
        <p:nvSpPr>
          <p:cNvPr id="26" name="Shape 24"/>
          <p:cNvSpPr/>
          <p:nvPr/>
        </p:nvSpPr>
        <p:spPr>
          <a:xfrm>
            <a:off x="548640" y="4709160"/>
            <a:ext cx="11064240" cy="1463040"/>
          </a:xfrm>
          <a:prstGeom prst="rect">
            <a:avLst/>
          </a:prstGeom>
          <a:solidFill>
            <a:srgbClr val="3A2E28"/>
          </a:solidFill>
          <a:ln/>
        </p:spPr>
      </p:sp>
      <p:sp>
        <p:nvSpPr>
          <p:cNvPr id="27" name="Text 25"/>
          <p:cNvSpPr txBox="1"/>
          <p:nvPr/>
        </p:nvSpPr>
        <p:spPr>
          <a:xfrm>
            <a:off x="822960" y="4846320"/>
            <a:ext cx="5486400" cy="320040"/>
          </a:xfrm>
          <a:prstGeom prst="rect">
            <a:avLst/>
          </a:prstGeom>
          <a:noFill/>
          <a:ln/>
        </p:spPr>
        <p:txBody>
          <a:bodyPr wrap="square" lIns="0" tIns="0" rIns="0" bIns="0" rtlCol="0" anchor="ctr"/>
          <a:lstStyle/>
          <a:p>
            <a:pPr marL="0" indent="0">
              <a:buNone/>
            </a:pPr>
            <a:r>
              <a:rPr lang="en-US" b="1" dirty="0">
                <a:solidFill>
                  <a:srgbClr val="A7BEAE"/>
                </a:solidFill>
                <a:latin typeface="Calibri"/>
                <a:ea typeface="Calibri"/>
                <a:cs typeface="Calibri"/>
              </a:rPr>
              <a:t>End-to-end pipeline</a:t>
            </a:r>
            <a:endParaRPr lang="en-US">
              <a:latin typeface="Calibri"/>
              <a:ea typeface="Calibri"/>
              <a:cs typeface="Calibri"/>
            </a:endParaRPr>
          </a:p>
        </p:txBody>
      </p:sp>
      <p:sp>
        <p:nvSpPr>
          <p:cNvPr id="28" name="Text 26"/>
          <p:cNvSpPr txBox="1"/>
          <p:nvPr/>
        </p:nvSpPr>
        <p:spPr>
          <a:xfrm>
            <a:off x="822960" y="5193792"/>
            <a:ext cx="10515600" cy="868680"/>
          </a:xfrm>
          <a:prstGeom prst="rect">
            <a:avLst/>
          </a:prstGeom>
          <a:noFill/>
          <a:ln/>
        </p:spPr>
        <p:txBody>
          <a:bodyPr wrap="square" lIns="0" tIns="0" rIns="0" bIns="0" rtlCol="0" anchor="ctr"/>
          <a:lstStyle/>
          <a:p>
            <a:pPr marL="0" indent="0">
              <a:lnSpc>
                <a:spcPct val="130000"/>
              </a:lnSpc>
              <a:buNone/>
            </a:pPr>
            <a:r>
              <a:rPr lang="en-US" dirty="0">
                <a:solidFill>
                  <a:srgbClr val="FFFFFF"/>
                </a:solidFill>
                <a:latin typeface="Calibri"/>
                <a:ea typeface="Calibri"/>
                <a:cs typeface="Calibri"/>
              </a:rPr>
              <a:t>Raw data  →  QGIS spatial integration  →  Integrated dataset  →  Altair AI Studio (ML)  →  Landslide-type classification  →  Feature importance  →  Risk characterization</a:t>
            </a:r>
            <a:endParaRPr lang="en-US">
              <a:latin typeface="Calibri"/>
              <a:ea typeface="Calibri"/>
              <a:cs typeface="Calibri"/>
            </a:endParaRPr>
          </a:p>
        </p:txBody>
      </p:sp>
      <p:sp>
        <p:nvSpPr>
          <p:cNvPr id="29" name="Text 2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30" name="Text 2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Datasets Used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883782984"/>
              </p:ext>
            </p:extLst>
          </p:nvPr>
        </p:nvGraphicFramePr>
        <p:xfrm>
          <a:off x="548640" y="1371600"/>
          <a:ext cx="11064240" cy="2804160"/>
        </p:xfrm>
        <a:graphic>
          <a:graphicData uri="http://schemas.openxmlformats.org/drawingml/2006/table">
            <a:tbl>
              <a:tblPr/>
              <a:tblGrid>
                <a:gridCol w="27432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48640">
                <a:tc>
                  <a:txBody>
                    <a:bodyPr/>
                    <a:lstStyle/>
                    <a:p>
                      <a:pPr marL="0" indent="0">
                        <a:buNone/>
                      </a:pPr>
                      <a:r>
                        <a:rPr lang="en-US" sz="1600" dirty="0">
                          <a:solidFill>
                            <a:srgbClr val="2B2B2B"/>
                          </a:solidFill>
                          <a:latin typeface="Calibri"/>
                          <a:ea typeface="Calibri"/>
                          <a:cs typeface="Calibri"/>
                        </a:rPr>
                        <a:t>Dataset</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Source / Content</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Size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48640">
                <a:tc>
                  <a:txBody>
                    <a:bodyPr/>
                    <a:lstStyle/>
                    <a:p>
                      <a:pPr marL="0" indent="0">
                        <a:buNone/>
                      </a:pPr>
                      <a:r>
                        <a:rPr lang="en-US" sz="1600" dirty="0">
                          <a:solidFill>
                            <a:srgbClr val="2B2B2B"/>
                          </a:solidFill>
                          <a:latin typeface="Calibri"/>
                          <a:ea typeface="Calibri"/>
                          <a:cs typeface="Calibri"/>
                          <a:hlinkClick r:id="rId3"/>
                        </a:rPr>
                        <a:t>Landslide inventory</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2018 Kerala monsoon landslide points, incl. type (Debris Flow / Shallow Slide / Rockfall)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4,728 points</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600" dirty="0">
                          <a:solidFill>
                            <a:srgbClr val="2B2B2B"/>
                          </a:solidFill>
                          <a:latin typeface="Calibri"/>
                          <a:ea typeface="Calibri"/>
                          <a:cs typeface="Calibri"/>
                          <a:hlinkClick r:id="rId4"/>
                        </a:rPr>
                        <a:t>Rainfall station data</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60 stations — total, mean daily, and max 1/3/7-day rainfall, coverage ratio</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60 stations</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600" dirty="0">
                          <a:solidFill>
                            <a:srgbClr val="2B2B2B"/>
                          </a:solidFill>
                          <a:latin typeface="Calibri"/>
                          <a:ea typeface="Calibri"/>
                          <a:cs typeface="Calibri"/>
                          <a:hlinkClick r:id="rId5"/>
                        </a:rPr>
                        <a:t>GSI susceptibility</a:t>
                      </a:r>
                      <a:endParaRPr lang="en-US" sz="1600" dirty="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Geological Survey of India landslide susceptibility polygons (High / Moderate / Low)</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Statewide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600" dirty="0">
                          <a:solidFill>
                            <a:srgbClr val="2B2B2B"/>
                          </a:solidFill>
                          <a:latin typeface="Calibri"/>
                          <a:ea typeface="Calibri"/>
                          <a:cs typeface="Calibri"/>
                        </a:rPr>
                        <a:t>Land use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Land-use classification for 2010 and 2018 (24–25 categories)</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Statewide</a:t>
                      </a:r>
                      <a:endParaRPr lang="en-US" sz="1600" dirty="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1371600"/>
            <a:ext cx="11064240" cy="548640"/>
          </a:xfrm>
          <a:prstGeom prst="rect">
            <a:avLst/>
          </a:prstGeom>
          <a:solidFill>
            <a:srgbClr val="B85042"/>
          </a:solidFill>
          <a:ln/>
        </p:spPr>
      </p:sp>
      <p:sp>
        <p:nvSpPr>
          <p:cNvPr id="5" name="Text 2"/>
          <p:cNvSpPr txBox="1"/>
          <p:nvPr/>
        </p:nvSpPr>
        <p:spPr>
          <a:xfrm>
            <a:off x="685800" y="1371600"/>
            <a:ext cx="256032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Dataset</a:t>
            </a:r>
            <a:endParaRPr lang="en-US" sz="2000" dirty="0"/>
          </a:p>
        </p:txBody>
      </p:sp>
      <p:sp>
        <p:nvSpPr>
          <p:cNvPr id="6" name="Text 3"/>
          <p:cNvSpPr txBox="1"/>
          <p:nvPr/>
        </p:nvSpPr>
        <p:spPr>
          <a:xfrm>
            <a:off x="3429000" y="1371600"/>
            <a:ext cx="658368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a:ea typeface="Calibri"/>
                <a:cs typeface="Calibri"/>
              </a:rPr>
              <a:t>Source / Content</a:t>
            </a:r>
            <a:endParaRPr lang="en-US" sz="2000">
              <a:latin typeface="Calibri"/>
              <a:ea typeface="Calibri"/>
              <a:cs typeface="Calibri"/>
            </a:endParaRPr>
          </a:p>
        </p:txBody>
      </p:sp>
      <p:sp>
        <p:nvSpPr>
          <p:cNvPr id="3" name="Text 4"/>
          <p:cNvSpPr txBox="1"/>
          <p:nvPr/>
        </p:nvSpPr>
        <p:spPr>
          <a:xfrm>
            <a:off x="10058400" y="1371600"/>
            <a:ext cx="146304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a:ea typeface="Calibri"/>
                <a:cs typeface="Calibri"/>
              </a:rPr>
              <a:t>Size</a:t>
            </a:r>
            <a:endParaRPr lang="en-US" sz="2000">
              <a:latin typeface="Calibri"/>
              <a:ea typeface="Calibri"/>
              <a:cs typeface="Calibri"/>
            </a:endParaRPr>
          </a:p>
        </p:txBody>
      </p:sp>
      <p:sp>
        <p:nvSpPr>
          <p:cNvPr id="8" name="Shape 5"/>
          <p:cNvSpPr/>
          <p:nvPr/>
        </p:nvSpPr>
        <p:spPr>
          <a:xfrm>
            <a:off x="548640" y="4343400"/>
            <a:ext cx="11064240" cy="1783080"/>
          </a:xfrm>
          <a:prstGeom prst="rect">
            <a:avLst/>
          </a:prstGeom>
          <a:solidFill>
            <a:srgbClr val="E7E8D1"/>
          </a:solidFill>
          <a:ln/>
        </p:spPr>
      </p:sp>
      <p:sp>
        <p:nvSpPr>
          <p:cNvPr id="9" name="Text 6"/>
          <p:cNvSpPr txBox="1"/>
          <p:nvPr/>
        </p:nvSpPr>
        <p:spPr>
          <a:xfrm>
            <a:off x="822960" y="4480560"/>
            <a:ext cx="7315200" cy="365760"/>
          </a:xfrm>
          <a:prstGeom prst="rect">
            <a:avLst/>
          </a:prstGeom>
          <a:noFill/>
          <a:ln/>
        </p:spPr>
        <p:txBody>
          <a:bodyPr wrap="square" lIns="0" tIns="0" rIns="0" bIns="0" rtlCol="0" anchor="ctr"/>
          <a:lstStyle/>
          <a:p>
            <a:pPr marL="0" indent="0">
              <a:buNone/>
            </a:pPr>
            <a:r>
              <a:rPr lang="en-US" sz="2300" b="1" dirty="0">
                <a:solidFill>
                  <a:srgbClr val="3A2E28"/>
                </a:solidFill>
                <a:latin typeface="Calibri"/>
                <a:ea typeface="Calibri"/>
                <a:cs typeface="Calibri"/>
              </a:rPr>
              <a:t>Final analysis-ready dataset</a:t>
            </a:r>
            <a:endParaRPr lang="en-US" sz="2300">
              <a:latin typeface="Calibri"/>
              <a:ea typeface="Calibri"/>
              <a:cs typeface="Calibri"/>
            </a:endParaRPr>
          </a:p>
        </p:txBody>
      </p:sp>
      <p:sp>
        <p:nvSpPr>
          <p:cNvPr id="10" name="Text 7"/>
          <p:cNvSpPr txBox="1"/>
          <p:nvPr/>
        </p:nvSpPr>
        <p:spPr>
          <a:xfrm>
            <a:off x="822960" y="4892040"/>
            <a:ext cx="10332720" cy="1143000"/>
          </a:xfrm>
          <a:prstGeom prst="rect">
            <a:avLst/>
          </a:prstGeom>
          <a:noFill/>
          <a:ln/>
        </p:spPr>
        <p:txBody>
          <a:bodyPr wrap="square" lIns="0" tIns="0" rIns="0" bIns="0" rtlCol="0" anchor="ctr"/>
          <a:lstStyle/>
          <a:p>
            <a:pPr marL="0" indent="0">
              <a:lnSpc>
                <a:spcPct val="125000"/>
              </a:lnSpc>
              <a:buNone/>
            </a:pPr>
            <a:r>
              <a:rPr lang="en-US" b="1" dirty="0">
                <a:solidFill>
                  <a:srgbClr val="B85042"/>
                </a:solidFill>
                <a:latin typeface="Calibri"/>
                <a:ea typeface="Calibri"/>
                <a:cs typeface="Calibri"/>
              </a:rPr>
              <a:t>4,606</a:t>
            </a:r>
            <a:r>
              <a:rPr lang="en-US" dirty="0">
                <a:solidFill>
                  <a:srgbClr val="2B2B2B"/>
                </a:solidFill>
                <a:latin typeface="Calibri"/>
                <a:ea typeface="Calibri"/>
                <a:cs typeface="Calibri"/>
              </a:rPr>
              <a:t>  of 4,728 landslides (97.42%) retained — records with valid GSI susceptibility, complete rainfall data (0 missing, every landslide matched to a nearest station), and confirmed land-use labels.</a:t>
            </a:r>
            <a:endParaRPr lang="en-US">
              <a:latin typeface="Calibri"/>
              <a:ea typeface="Calibri"/>
              <a:cs typeface="Calibri"/>
            </a:endParaRPr>
          </a:p>
          <a:p>
            <a:pPr marL="0" indent="0">
              <a:lnSpc>
                <a:spcPct val="125000"/>
              </a:lnSpc>
              <a:buNone/>
            </a:pPr>
            <a:r>
              <a:rPr lang="en-US" dirty="0">
                <a:solidFill>
                  <a:srgbClr val="2B2B2B"/>
                </a:solidFill>
                <a:latin typeface="Calibri"/>
                <a:ea typeface="Calibri"/>
                <a:cs typeface="Calibri"/>
              </a:rPr>
              <a:t>The remaining 122 records (2.58%) lacked GSI susceptibility and were excluded from modelling, not deleted.</a:t>
            </a:r>
            <a:endParaRPr lang="en-US">
              <a:latin typeface="Calibri"/>
              <a:ea typeface="Calibri"/>
              <a:cs typeface="Calibri"/>
            </a:endParaRPr>
          </a:p>
        </p:txBody>
      </p:sp>
      <p:sp>
        <p:nvSpPr>
          <p:cNvPr id="11" name="Text 8"/>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2" name="Text 9"/>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Data Preprocessing &amp; Spatial Integration — QGIS</a:t>
            </a:r>
            <a:endParaRPr lang="en-US" sz="3000" dirty="0"/>
          </a:p>
        </p:txBody>
      </p:sp>
      <p:sp>
        <p:nvSpPr>
          <p:cNvPr id="3" name="Shape 1"/>
          <p:cNvSpPr/>
          <p:nvPr/>
        </p:nvSpPr>
        <p:spPr>
          <a:xfrm>
            <a:off x="548640" y="1371600"/>
            <a:ext cx="384048" cy="384048"/>
          </a:xfrm>
          <a:prstGeom prst="ellipse">
            <a:avLst/>
          </a:prstGeom>
          <a:solidFill>
            <a:srgbClr val="B85042"/>
          </a:solidFill>
          <a:ln/>
        </p:spPr>
      </p:sp>
      <p:sp>
        <p:nvSpPr>
          <p:cNvPr id="4" name="Text 2"/>
          <p:cNvSpPr txBox="1"/>
          <p:nvPr/>
        </p:nvSpPr>
        <p:spPr>
          <a:xfrm>
            <a:off x="548640" y="1371600"/>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1</a:t>
            </a:r>
            <a:endParaRPr lang="en-US" sz="1260" dirty="0"/>
          </a:p>
        </p:txBody>
      </p:sp>
      <p:sp>
        <p:nvSpPr>
          <p:cNvPr id="5" name="Text 3"/>
          <p:cNvSpPr txBox="1"/>
          <p:nvPr/>
        </p:nvSpPr>
        <p:spPr>
          <a:xfrm>
            <a:off x="1143000" y="1353312"/>
            <a:ext cx="6035040" cy="502920"/>
          </a:xfrm>
          <a:prstGeom prst="rect">
            <a:avLst/>
          </a:prstGeom>
          <a:noFill/>
          <a:ln/>
        </p:spPr>
        <p:txBody>
          <a:bodyPr wrap="square" lIns="0" tIns="0" rIns="0" bIns="0" rtlCol="0" anchor="ctr"/>
          <a:lstStyle/>
          <a:p>
            <a:pPr algn="just"/>
            <a:r>
              <a:rPr lang="en-US" dirty="0">
                <a:solidFill>
                  <a:srgbClr val="2B2B2B"/>
                </a:solidFill>
                <a:latin typeface="Calibri"/>
                <a:ea typeface="Calibri"/>
                <a:cs typeface="Calibri"/>
              </a:rPr>
              <a:t>Loaded 60 rainfall stations (CSV, lat/long) as a point layer in WGS84</a:t>
            </a:r>
            <a:endParaRPr lang="en-US">
              <a:latin typeface="Calibri"/>
              <a:ea typeface="Calibri"/>
              <a:cs typeface="Calibri"/>
            </a:endParaRPr>
          </a:p>
        </p:txBody>
      </p:sp>
      <p:sp>
        <p:nvSpPr>
          <p:cNvPr id="6" name="Shape 4"/>
          <p:cNvSpPr/>
          <p:nvPr/>
        </p:nvSpPr>
        <p:spPr>
          <a:xfrm>
            <a:off x="548640" y="1938528"/>
            <a:ext cx="384048" cy="384048"/>
          </a:xfrm>
          <a:prstGeom prst="ellipse">
            <a:avLst/>
          </a:prstGeom>
          <a:solidFill>
            <a:srgbClr val="A7BEAE"/>
          </a:solidFill>
          <a:ln/>
        </p:spPr>
      </p:sp>
      <p:sp>
        <p:nvSpPr>
          <p:cNvPr id="7" name="Text 5"/>
          <p:cNvSpPr txBox="1"/>
          <p:nvPr/>
        </p:nvSpPr>
        <p:spPr>
          <a:xfrm>
            <a:off x="548640" y="1938528"/>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2</a:t>
            </a:r>
            <a:endParaRPr lang="en-US" sz="1260" dirty="0"/>
          </a:p>
        </p:txBody>
      </p:sp>
      <p:sp>
        <p:nvSpPr>
          <p:cNvPr id="8" name="Text 6"/>
          <p:cNvSpPr txBox="1"/>
          <p:nvPr/>
        </p:nvSpPr>
        <p:spPr>
          <a:xfrm>
            <a:off x="1143000" y="1920240"/>
            <a:ext cx="6035040" cy="502920"/>
          </a:xfrm>
          <a:prstGeom prst="rect">
            <a:avLst/>
          </a:prstGeom>
          <a:noFill/>
          <a:ln/>
        </p:spPr>
        <p:txBody>
          <a:bodyPr wrap="square" lIns="0" tIns="0" rIns="0" bIns="0" rtlCol="0" anchor="ctr"/>
          <a:lstStyle/>
          <a:p>
            <a:pPr algn="just"/>
            <a:r>
              <a:rPr lang="en-US" dirty="0">
                <a:solidFill>
                  <a:srgbClr val="2B2B2B"/>
                </a:solidFill>
                <a:latin typeface="Calibri" pitchFamily="34" charset="0"/>
                <a:ea typeface="Calibri" pitchFamily="34" charset="-122"/>
                <a:cs typeface="Calibri" pitchFamily="34" charset="-120"/>
              </a:rPr>
              <a:t>Reprojected rainfall stations to EPSG:32643 (UTM 43N, metres) to match landslide/GSI layers</a:t>
            </a:r>
            <a:endParaRPr lang="en-US" dirty="0">
              <a:ea typeface="Calibri" panose="020F0502020204030204"/>
              <a:cs typeface="Calibri" panose="020F0502020204030204"/>
            </a:endParaRPr>
          </a:p>
        </p:txBody>
      </p:sp>
      <p:sp>
        <p:nvSpPr>
          <p:cNvPr id="9" name="Shape 7"/>
          <p:cNvSpPr/>
          <p:nvPr/>
        </p:nvSpPr>
        <p:spPr>
          <a:xfrm>
            <a:off x="548640" y="2505456"/>
            <a:ext cx="384048" cy="384048"/>
          </a:xfrm>
          <a:prstGeom prst="ellipse">
            <a:avLst/>
          </a:prstGeom>
          <a:solidFill>
            <a:srgbClr val="B85042"/>
          </a:solidFill>
          <a:ln/>
        </p:spPr>
      </p:sp>
      <p:sp>
        <p:nvSpPr>
          <p:cNvPr id="10" name="Text 8"/>
          <p:cNvSpPr txBox="1"/>
          <p:nvPr/>
        </p:nvSpPr>
        <p:spPr>
          <a:xfrm>
            <a:off x="548640" y="2505456"/>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3</a:t>
            </a:r>
            <a:endParaRPr lang="en-US" sz="1260" dirty="0"/>
          </a:p>
        </p:txBody>
      </p:sp>
      <p:sp>
        <p:nvSpPr>
          <p:cNvPr id="11" name="Text 9"/>
          <p:cNvSpPr txBox="1"/>
          <p:nvPr/>
        </p:nvSpPr>
        <p:spPr>
          <a:xfrm>
            <a:off x="1143000" y="2487168"/>
            <a:ext cx="6035040" cy="502920"/>
          </a:xfrm>
          <a:prstGeom prst="rect">
            <a:avLst/>
          </a:prstGeom>
          <a:noFill/>
          <a:ln/>
        </p:spPr>
        <p:txBody>
          <a:bodyPr wrap="square" lIns="0" tIns="0" rIns="0" bIns="0" rtlCol="0" anchor="ctr"/>
          <a:lstStyle/>
          <a:p>
            <a:pPr algn="just"/>
            <a:r>
              <a:rPr lang="en-US" dirty="0">
                <a:solidFill>
                  <a:srgbClr val="2B2B2B"/>
                </a:solidFill>
                <a:latin typeface="Calibri" pitchFamily="34" charset="0"/>
                <a:ea typeface="Calibri" pitchFamily="34" charset="-122"/>
                <a:cs typeface="Calibri" pitchFamily="34" charset="-120"/>
              </a:rPr>
              <a:t>“Join Attributes by Nearest” — matched each of 4,728 landslides to its nearest rainfall station</a:t>
            </a:r>
            <a:endParaRPr lang="en-US" dirty="0">
              <a:ea typeface="Calibri" panose="020F0502020204030204"/>
              <a:cs typeface="Calibri" panose="020F0502020204030204"/>
            </a:endParaRPr>
          </a:p>
        </p:txBody>
      </p:sp>
      <p:sp>
        <p:nvSpPr>
          <p:cNvPr id="12" name="Shape 10"/>
          <p:cNvSpPr/>
          <p:nvPr/>
        </p:nvSpPr>
        <p:spPr>
          <a:xfrm>
            <a:off x="548640" y="3072384"/>
            <a:ext cx="384048" cy="384048"/>
          </a:xfrm>
          <a:prstGeom prst="ellipse">
            <a:avLst/>
          </a:prstGeom>
          <a:solidFill>
            <a:srgbClr val="A7BEAE"/>
          </a:solidFill>
          <a:ln/>
        </p:spPr>
      </p:sp>
      <p:sp>
        <p:nvSpPr>
          <p:cNvPr id="13" name="Text 11"/>
          <p:cNvSpPr txBox="1"/>
          <p:nvPr/>
        </p:nvSpPr>
        <p:spPr>
          <a:xfrm>
            <a:off x="548640" y="3072384"/>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4</a:t>
            </a:r>
            <a:endParaRPr lang="en-US" sz="1260" dirty="0"/>
          </a:p>
        </p:txBody>
      </p:sp>
      <p:sp>
        <p:nvSpPr>
          <p:cNvPr id="14" name="Text 12"/>
          <p:cNvSpPr txBox="1"/>
          <p:nvPr/>
        </p:nvSpPr>
        <p:spPr>
          <a:xfrm>
            <a:off x="1143000" y="3054096"/>
            <a:ext cx="6035040" cy="502920"/>
          </a:xfrm>
          <a:prstGeom prst="rect">
            <a:avLst/>
          </a:prstGeom>
          <a:noFill/>
          <a:ln/>
        </p:spPr>
        <p:txBody>
          <a:bodyPr wrap="square" lIns="0" tIns="0" rIns="0" bIns="0" rtlCol="0" anchor="ctr"/>
          <a:lstStyle/>
          <a:p>
            <a:pPr algn="just"/>
            <a:r>
              <a:rPr lang="en-US" dirty="0">
                <a:solidFill>
                  <a:srgbClr val="2B2B2B"/>
                </a:solidFill>
                <a:latin typeface="Calibri" pitchFamily="34" charset="0"/>
                <a:ea typeface="Calibri" pitchFamily="34" charset="-122"/>
                <a:cs typeface="Calibri" pitchFamily="34" charset="-120"/>
              </a:rPr>
              <a:t>Verified 0 unmatched landslides; distance ranged ~1 km to ~78 km (recorded as a data-confidence field)</a:t>
            </a:r>
            <a:endParaRPr lang="en-US" dirty="0">
              <a:ea typeface="Calibri" panose="020F0502020204030204"/>
              <a:cs typeface="Calibri" panose="020F0502020204030204"/>
            </a:endParaRPr>
          </a:p>
        </p:txBody>
      </p:sp>
      <p:sp>
        <p:nvSpPr>
          <p:cNvPr id="15" name="Shape 13"/>
          <p:cNvSpPr/>
          <p:nvPr/>
        </p:nvSpPr>
        <p:spPr>
          <a:xfrm>
            <a:off x="548640" y="3639312"/>
            <a:ext cx="384048" cy="384048"/>
          </a:xfrm>
          <a:prstGeom prst="ellipse">
            <a:avLst/>
          </a:prstGeom>
          <a:solidFill>
            <a:srgbClr val="B85042"/>
          </a:solidFill>
          <a:ln/>
        </p:spPr>
      </p:sp>
      <p:sp>
        <p:nvSpPr>
          <p:cNvPr id="16" name="Text 14"/>
          <p:cNvSpPr txBox="1"/>
          <p:nvPr/>
        </p:nvSpPr>
        <p:spPr>
          <a:xfrm>
            <a:off x="548640" y="3639312"/>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5</a:t>
            </a:r>
            <a:endParaRPr lang="en-US" sz="1260" dirty="0"/>
          </a:p>
        </p:txBody>
      </p:sp>
      <p:sp>
        <p:nvSpPr>
          <p:cNvPr id="17" name="Text 15"/>
          <p:cNvSpPr txBox="1"/>
          <p:nvPr/>
        </p:nvSpPr>
        <p:spPr>
          <a:xfrm>
            <a:off x="1143000" y="3621024"/>
            <a:ext cx="6035040" cy="502920"/>
          </a:xfrm>
          <a:prstGeom prst="rect">
            <a:avLst/>
          </a:prstGeom>
          <a:noFill/>
          <a:ln/>
        </p:spPr>
        <p:txBody>
          <a:bodyPr wrap="square" lIns="0" tIns="0" rIns="0" bIns="0" rtlCol="0" anchor="ctr"/>
          <a:lstStyle/>
          <a:p>
            <a:pPr algn="just"/>
            <a:r>
              <a:rPr lang="en-US" dirty="0">
                <a:solidFill>
                  <a:srgbClr val="2B2B2B"/>
                </a:solidFill>
                <a:latin typeface="Calibri" pitchFamily="34" charset="0"/>
                <a:ea typeface="Calibri" pitchFamily="34" charset="-122"/>
                <a:cs typeface="Calibri" pitchFamily="34" charset="-120"/>
              </a:rPr>
              <a:t>Filtered to 4,606 records with valid GSI susceptibility for the modelling dataset</a:t>
            </a:r>
            <a:endParaRPr lang="en-US" dirty="0">
              <a:ea typeface="Calibri" panose="020F0502020204030204"/>
              <a:cs typeface="Calibri" panose="020F0502020204030204"/>
            </a:endParaRPr>
          </a:p>
        </p:txBody>
      </p:sp>
      <p:sp>
        <p:nvSpPr>
          <p:cNvPr id="18" name="Shape 16"/>
          <p:cNvSpPr/>
          <p:nvPr/>
        </p:nvSpPr>
        <p:spPr>
          <a:xfrm>
            <a:off x="548640" y="4206240"/>
            <a:ext cx="384048" cy="384048"/>
          </a:xfrm>
          <a:prstGeom prst="ellipse">
            <a:avLst/>
          </a:prstGeom>
          <a:solidFill>
            <a:srgbClr val="A7BEAE"/>
          </a:solidFill>
          <a:ln/>
        </p:spPr>
      </p:sp>
      <p:sp>
        <p:nvSpPr>
          <p:cNvPr id="19" name="Text 17"/>
          <p:cNvSpPr txBox="1"/>
          <p:nvPr/>
        </p:nvSpPr>
        <p:spPr>
          <a:xfrm>
            <a:off x="548640" y="4206240"/>
            <a:ext cx="384048" cy="384048"/>
          </a:xfrm>
          <a:prstGeom prst="rect">
            <a:avLst/>
          </a:prstGeom>
          <a:noFill/>
          <a:ln/>
        </p:spPr>
        <p:txBody>
          <a:bodyPr wrap="square" lIns="0" tIns="0" rIns="0" bIns="0" rtlCol="0" anchor="ctr"/>
          <a:lstStyle/>
          <a:p>
            <a:pPr marL="0" indent="0" algn="ctr">
              <a:buNone/>
            </a:pPr>
            <a:r>
              <a:rPr lang="en-US" sz="1260" b="1" dirty="0">
                <a:solidFill>
                  <a:srgbClr val="FFFFFF"/>
                </a:solidFill>
                <a:latin typeface="Calibri" pitchFamily="34" charset="0"/>
                <a:ea typeface="Calibri" pitchFamily="34" charset="-122"/>
                <a:cs typeface="Calibri" pitchFamily="34" charset="-120"/>
              </a:rPr>
              <a:t>6</a:t>
            </a:r>
            <a:endParaRPr lang="en-US" sz="1260" dirty="0"/>
          </a:p>
        </p:txBody>
      </p:sp>
      <p:sp>
        <p:nvSpPr>
          <p:cNvPr id="20" name="Text 18"/>
          <p:cNvSpPr txBox="1"/>
          <p:nvPr/>
        </p:nvSpPr>
        <p:spPr>
          <a:xfrm>
            <a:off x="1143000" y="4187952"/>
            <a:ext cx="6035040" cy="502920"/>
          </a:xfrm>
          <a:prstGeom prst="rect">
            <a:avLst/>
          </a:prstGeom>
          <a:noFill/>
          <a:ln/>
        </p:spPr>
        <p:txBody>
          <a:bodyPr wrap="square" lIns="0" tIns="0" rIns="0" bIns="0" rtlCol="0" anchor="ctr"/>
          <a:lstStyle/>
          <a:p>
            <a:pPr algn="just"/>
            <a:r>
              <a:rPr lang="en-US" dirty="0">
                <a:solidFill>
                  <a:srgbClr val="2B2B2B"/>
                </a:solidFill>
                <a:latin typeface="Calibri" pitchFamily="34" charset="0"/>
                <a:ea typeface="Calibri" pitchFamily="34" charset="-122"/>
                <a:cs typeface="Calibri" pitchFamily="34" charset="-120"/>
              </a:rPr>
              <a:t>Exported final integrated layer to CSV for machine learning in Altair AI Studio</a:t>
            </a:r>
            <a:endParaRPr lang="en-US" dirty="0">
              <a:ea typeface="Calibri" panose="020F0502020204030204"/>
              <a:cs typeface="Calibri" panose="020F0502020204030204"/>
            </a:endParaRPr>
          </a:p>
        </p:txBody>
      </p:sp>
      <p:sp>
        <p:nvSpPr>
          <p:cNvPr id="22" name="Text 20"/>
          <p:cNvSpPr txBox="1"/>
          <p:nvPr/>
        </p:nvSpPr>
        <p:spPr>
          <a:xfrm>
            <a:off x="7635240" y="3291840"/>
            <a:ext cx="3794760" cy="914400"/>
          </a:xfrm>
          <a:prstGeom prst="rect">
            <a:avLst/>
          </a:prstGeom>
          <a:noFill/>
          <a:ln/>
        </p:spPr>
        <p:txBody>
          <a:bodyPr wrap="square" lIns="0" tIns="0" rIns="0" bIns="0" rtlCol="0" anchor="ctr"/>
          <a:lstStyle/>
          <a:p>
            <a:pPr marL="0" indent="0" algn="ctr">
              <a:buNone/>
            </a:pPr>
            <a:r>
              <a:rPr lang="en-US" sz="1200" b="1" dirty="0">
                <a:solidFill>
                  <a:srgbClr val="B85042"/>
                </a:solidFill>
                <a:latin typeface="Calibri" pitchFamily="34" charset="0"/>
                <a:ea typeface="Calibri" pitchFamily="34" charset="-122"/>
                <a:cs typeface="Calibri" pitchFamily="34" charset="-120"/>
              </a:rPr>
              <a:t>IMAGE PLACEHOLDER
</a:t>
            </a:r>
            <a:r>
              <a:rPr lang="en-US" sz="1100" i="1" dirty="0">
                <a:solidFill>
                  <a:srgbClr val="6B6259"/>
                </a:solidFill>
                <a:latin typeface="Calibri" pitchFamily="34" charset="0"/>
                <a:ea typeface="Calibri" pitchFamily="34" charset="-122"/>
                <a:cs typeface="Calibri" pitchFamily="34" charset="-120"/>
              </a:rPr>
              <a:t>QGIS workflow diagram / spatial</a:t>
            </a:r>
            <a:endParaRPr lang="en-US" sz="1200" dirty="0"/>
          </a:p>
          <a:p>
            <a:pPr marL="0" indent="0" algn="ctr">
              <a:buNone/>
            </a:pPr>
            <a:r>
              <a:rPr lang="en-US" sz="1100" i="1" dirty="0">
                <a:solidFill>
                  <a:srgbClr val="6B6259"/>
                </a:solidFill>
                <a:latin typeface="Calibri" pitchFamily="34" charset="0"/>
                <a:ea typeface="Calibri" pitchFamily="34" charset="-122"/>
                <a:cs typeface="Calibri" pitchFamily="34" charset="-120"/>
              </a:rPr>
              <a:t>join screenshot</a:t>
            </a:r>
            <a:endParaRPr lang="en-US" sz="1200" dirty="0"/>
          </a:p>
          <a:p>
            <a:pPr marL="0" indent="0" algn="ctr">
              <a:buNone/>
            </a:pPr>
            <a:r>
              <a:rPr lang="en-US" sz="1100" i="1" dirty="0">
                <a:solidFill>
                  <a:srgbClr val="6B6259"/>
                </a:solidFill>
                <a:latin typeface="Calibri" pitchFamily="34" charset="0"/>
                <a:ea typeface="Calibri" pitchFamily="34" charset="-122"/>
                <a:cs typeface="Calibri" pitchFamily="34" charset="-120"/>
              </a:rPr>
              <a:t>(rainfall → landslide nearest-join)</a:t>
            </a:r>
            <a:endParaRPr lang="en-US" sz="1200" dirty="0"/>
          </a:p>
        </p:txBody>
      </p:sp>
      <p:sp>
        <p:nvSpPr>
          <p:cNvPr id="23" name="Text 21"/>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4" name="Text 22"/>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7</a:t>
            </a:r>
            <a:endParaRPr lang="en-US" sz="900" dirty="0"/>
          </a:p>
        </p:txBody>
      </p:sp>
      <p:pic>
        <p:nvPicPr>
          <p:cNvPr id="25" name="Picture 24">
            <a:extLst>
              <a:ext uri="{FF2B5EF4-FFF2-40B4-BE49-F238E27FC236}">
                <a16:creationId xmlns:a16="http://schemas.microsoft.com/office/drawing/2014/main" id="{55126B72-7A72-920D-B439-F5BDD8C0EA03}"/>
              </a:ext>
            </a:extLst>
          </p:cNvPr>
          <p:cNvPicPr>
            <a:picLocks noChangeAspect="1"/>
          </p:cNvPicPr>
          <p:nvPr/>
        </p:nvPicPr>
        <p:blipFill>
          <a:blip r:embed="rId3"/>
          <a:stretch>
            <a:fillRect/>
          </a:stretch>
        </p:blipFill>
        <p:spPr>
          <a:xfrm>
            <a:off x="7426026" y="1378323"/>
            <a:ext cx="4422065" cy="4280648"/>
          </a:xfrm>
          <a:prstGeom prst="rect">
            <a:avLst/>
          </a:prstGeom>
        </p:spPr>
      </p:pic>
      <p:sp>
        <p:nvSpPr>
          <p:cNvPr id="26" name="TextBox 25">
            <a:extLst>
              <a:ext uri="{FF2B5EF4-FFF2-40B4-BE49-F238E27FC236}">
                <a16:creationId xmlns:a16="http://schemas.microsoft.com/office/drawing/2014/main" id="{800FBBE0-75ED-F387-AC06-3AD4CD61CC54}"/>
              </a:ext>
            </a:extLst>
          </p:cNvPr>
          <p:cNvSpPr txBox="1"/>
          <p:nvPr/>
        </p:nvSpPr>
        <p:spPr>
          <a:xfrm>
            <a:off x="8078297" y="5549771"/>
            <a:ext cx="37629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Spatial join: nearest rainfall station matched to each landslide location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Spatial Integration — QGIS Maps</a:t>
            </a:r>
            <a:endParaRPr lang="en-US" sz="3000" dirty="0"/>
          </a:p>
        </p:txBody>
      </p:sp>
      <p:sp>
        <p:nvSpPr>
          <p:cNvPr id="11" name="Text 9"/>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2" name="Text 10"/>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8</a:t>
            </a:r>
            <a:endParaRPr lang="en-US" sz="900" dirty="0"/>
          </a:p>
        </p:txBody>
      </p:sp>
      <p:pic>
        <p:nvPicPr>
          <p:cNvPr id="13" name="Picture 12">
            <a:extLst>
              <a:ext uri="{FF2B5EF4-FFF2-40B4-BE49-F238E27FC236}">
                <a16:creationId xmlns:a16="http://schemas.microsoft.com/office/drawing/2014/main" id="{08D10D09-DF38-D8A2-1BC3-BC5D89D02708}"/>
              </a:ext>
            </a:extLst>
          </p:cNvPr>
          <p:cNvPicPr>
            <a:picLocks noChangeAspect="1"/>
          </p:cNvPicPr>
          <p:nvPr/>
        </p:nvPicPr>
        <p:blipFill>
          <a:blip r:embed="rId3"/>
          <a:stretch>
            <a:fillRect/>
          </a:stretch>
        </p:blipFill>
        <p:spPr>
          <a:xfrm>
            <a:off x="234204" y="1586473"/>
            <a:ext cx="3935503" cy="3304053"/>
          </a:xfrm>
          <a:prstGeom prst="rect">
            <a:avLst/>
          </a:prstGeom>
        </p:spPr>
      </p:pic>
      <p:pic>
        <p:nvPicPr>
          <p:cNvPr id="14" name="Picture 13">
            <a:extLst>
              <a:ext uri="{FF2B5EF4-FFF2-40B4-BE49-F238E27FC236}">
                <a16:creationId xmlns:a16="http://schemas.microsoft.com/office/drawing/2014/main" id="{B5091805-A777-C8B8-3A3F-8066EF1F4B77}"/>
              </a:ext>
            </a:extLst>
          </p:cNvPr>
          <p:cNvPicPr>
            <a:picLocks noChangeAspect="1"/>
          </p:cNvPicPr>
          <p:nvPr/>
        </p:nvPicPr>
        <p:blipFill>
          <a:blip r:embed="rId4"/>
          <a:stretch>
            <a:fillRect/>
          </a:stretch>
        </p:blipFill>
        <p:spPr>
          <a:xfrm>
            <a:off x="3195918" y="1483659"/>
            <a:ext cx="3301254" cy="3274359"/>
          </a:xfrm>
          <a:prstGeom prst="rect">
            <a:avLst/>
          </a:prstGeom>
        </p:spPr>
      </p:pic>
      <p:pic>
        <p:nvPicPr>
          <p:cNvPr id="15" name="Picture 14">
            <a:extLst>
              <a:ext uri="{FF2B5EF4-FFF2-40B4-BE49-F238E27FC236}">
                <a16:creationId xmlns:a16="http://schemas.microsoft.com/office/drawing/2014/main" id="{B833C936-3C62-CE86-F7A5-5C9946B6C93C}"/>
              </a:ext>
            </a:extLst>
          </p:cNvPr>
          <p:cNvPicPr>
            <a:picLocks noChangeAspect="1"/>
          </p:cNvPicPr>
          <p:nvPr/>
        </p:nvPicPr>
        <p:blipFill>
          <a:blip r:embed="rId5"/>
          <a:stretch>
            <a:fillRect/>
          </a:stretch>
        </p:blipFill>
        <p:spPr>
          <a:xfrm>
            <a:off x="5827339" y="1287275"/>
            <a:ext cx="3809440" cy="3555068"/>
          </a:xfrm>
          <a:prstGeom prst="rect">
            <a:avLst/>
          </a:prstGeom>
        </p:spPr>
      </p:pic>
      <p:pic>
        <p:nvPicPr>
          <p:cNvPr id="16" name="Picture 15">
            <a:extLst>
              <a:ext uri="{FF2B5EF4-FFF2-40B4-BE49-F238E27FC236}">
                <a16:creationId xmlns:a16="http://schemas.microsoft.com/office/drawing/2014/main" id="{DBFE33B0-014B-7347-6BB5-8F7E2E7B2641}"/>
              </a:ext>
            </a:extLst>
          </p:cNvPr>
          <p:cNvPicPr>
            <a:picLocks noChangeAspect="1"/>
          </p:cNvPicPr>
          <p:nvPr/>
        </p:nvPicPr>
        <p:blipFill>
          <a:blip r:embed="rId6"/>
          <a:stretch>
            <a:fillRect/>
          </a:stretch>
        </p:blipFill>
        <p:spPr>
          <a:xfrm>
            <a:off x="8718457" y="1482257"/>
            <a:ext cx="3327588" cy="3389220"/>
          </a:xfrm>
          <a:prstGeom prst="rect">
            <a:avLst/>
          </a:prstGeom>
        </p:spPr>
      </p:pic>
      <p:sp>
        <p:nvSpPr>
          <p:cNvPr id="17" name="TextBox 16">
            <a:extLst>
              <a:ext uri="{FF2B5EF4-FFF2-40B4-BE49-F238E27FC236}">
                <a16:creationId xmlns:a16="http://schemas.microsoft.com/office/drawing/2014/main" id="{3B539FDC-41A4-1325-326C-EEDCDC4E59B4}"/>
              </a:ext>
            </a:extLst>
          </p:cNvPr>
          <p:cNvSpPr txBox="1"/>
          <p:nvPr/>
        </p:nvSpPr>
        <p:spPr>
          <a:xfrm>
            <a:off x="1122662" y="4894550"/>
            <a:ext cx="32922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Kerala 2018 landslide </a:t>
            </a:r>
          </a:p>
          <a:p>
            <a:r>
              <a:rPr lang="en-US" dirty="0">
                <a:ea typeface="+mn-lt"/>
                <a:cs typeface="+mn-lt"/>
              </a:rPr>
              <a:t>distribution</a:t>
            </a:r>
            <a:endParaRPr lang="en-US" dirty="0">
              <a:ea typeface="Calibri"/>
              <a:cs typeface="Calibri"/>
            </a:endParaRPr>
          </a:p>
        </p:txBody>
      </p:sp>
      <p:sp>
        <p:nvSpPr>
          <p:cNvPr id="18" name="TextBox 17">
            <a:extLst>
              <a:ext uri="{FF2B5EF4-FFF2-40B4-BE49-F238E27FC236}">
                <a16:creationId xmlns:a16="http://schemas.microsoft.com/office/drawing/2014/main" id="{AFF4A78D-5CF0-722F-2D79-65182BDAF8D7}"/>
              </a:ext>
            </a:extLst>
          </p:cNvPr>
          <p:cNvSpPr txBox="1"/>
          <p:nvPr/>
        </p:nvSpPr>
        <p:spPr>
          <a:xfrm>
            <a:off x="4169400" y="488611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GSI susceptibility + landslides</a:t>
            </a:r>
            <a:endParaRPr lang="en-US" dirty="0"/>
          </a:p>
        </p:txBody>
      </p:sp>
      <p:sp>
        <p:nvSpPr>
          <p:cNvPr id="21" name="TextBox 20">
            <a:extLst>
              <a:ext uri="{FF2B5EF4-FFF2-40B4-BE49-F238E27FC236}">
                <a16:creationId xmlns:a16="http://schemas.microsoft.com/office/drawing/2014/main" id="{4FC5147D-8ECA-8192-19BC-5C7E38F6E334}"/>
              </a:ext>
            </a:extLst>
          </p:cNvPr>
          <p:cNvSpPr txBox="1"/>
          <p:nvPr/>
        </p:nvSpPr>
        <p:spPr>
          <a:xfrm>
            <a:off x="6735547" y="489731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Rainfall + landslide map</a:t>
            </a:r>
            <a:endParaRPr lang="en-US" dirty="0"/>
          </a:p>
        </p:txBody>
      </p:sp>
      <p:sp>
        <p:nvSpPr>
          <p:cNvPr id="23" name="TextBox 22">
            <a:extLst>
              <a:ext uri="{FF2B5EF4-FFF2-40B4-BE49-F238E27FC236}">
                <a16:creationId xmlns:a16="http://schemas.microsoft.com/office/drawing/2014/main" id="{BDBD709F-58F8-75BC-E435-53D42483EAEB}"/>
              </a:ext>
            </a:extLst>
          </p:cNvPr>
          <p:cNvSpPr txBox="1"/>
          <p:nvPr/>
        </p:nvSpPr>
        <p:spPr>
          <a:xfrm>
            <a:off x="9480987" y="503178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Final integrated QGIS map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AB382D-C616-AD3A-BC61-C7613A71FE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DCBB94-1BBA-4B02-A849-040EBB50D84E}"/>
              </a:ext>
            </a:extLst>
          </p:cNvPr>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Machine Learning Workflow — Altair AI Studio</a:t>
            </a:r>
            <a:endParaRPr lang="en-US" sz="3000" dirty="0"/>
          </a:p>
        </p:txBody>
      </p:sp>
      <p:sp>
        <p:nvSpPr>
          <p:cNvPr id="3" name="Text 1">
            <a:extLst>
              <a:ext uri="{FF2B5EF4-FFF2-40B4-BE49-F238E27FC236}">
                <a16:creationId xmlns:a16="http://schemas.microsoft.com/office/drawing/2014/main" id="{8DA7BBEE-8AF4-A54D-0053-FE4DEE28A7D4}"/>
              </a:ext>
            </a:extLst>
          </p:cNvPr>
          <p:cNvSpPr txBox="1"/>
          <p:nvPr/>
        </p:nvSpPr>
        <p:spPr>
          <a:xfrm>
            <a:off x="548640" y="1051560"/>
            <a:ext cx="11064240" cy="457200"/>
          </a:xfrm>
          <a:prstGeom prst="rect">
            <a:avLst/>
          </a:prstGeom>
          <a:noFill/>
          <a:ln/>
        </p:spPr>
        <p:txBody>
          <a:bodyPr wrap="square" lIns="0" tIns="0" rIns="0" bIns="0" rtlCol="0" anchor="ctr"/>
          <a:lstStyle/>
          <a:p>
            <a:pPr marL="0" indent="0">
              <a:buNone/>
            </a:pPr>
            <a:r>
              <a:rPr lang="en-US" sz="1250" b="1" i="1" dirty="0">
                <a:solidFill>
                  <a:srgbClr val="B85042"/>
                </a:solidFill>
                <a:latin typeface="Calibri" pitchFamily="34" charset="0"/>
                <a:ea typeface="Calibri" pitchFamily="34" charset="-122"/>
                <a:cs typeface="Calibri" pitchFamily="34" charset="-120"/>
              </a:rPr>
              <a:t>Read CSV → Set Role → Select Attributes → Replace Missing Values → Nominal to Numerical → Cross Validation ( Model → Apply Model → Performance )</a:t>
            </a:r>
            <a:endParaRPr lang="en-US" sz="1250" dirty="0"/>
          </a:p>
        </p:txBody>
      </p:sp>
      <p:sp>
        <p:nvSpPr>
          <p:cNvPr id="4" name="Shape 2">
            <a:extLst>
              <a:ext uri="{FF2B5EF4-FFF2-40B4-BE49-F238E27FC236}">
                <a16:creationId xmlns:a16="http://schemas.microsoft.com/office/drawing/2014/main" id="{C7A1A1A2-35D6-ABE5-46A0-AB819E9F7B28}"/>
              </a:ext>
            </a:extLst>
          </p:cNvPr>
          <p:cNvSpPr/>
          <p:nvPr/>
        </p:nvSpPr>
        <p:spPr>
          <a:xfrm>
            <a:off x="548640" y="1645920"/>
            <a:ext cx="11064240" cy="2331720"/>
          </a:xfrm>
          <a:prstGeom prst="rect">
            <a:avLst/>
          </a:prstGeom>
          <a:solidFill>
            <a:srgbClr val="F4F1EC"/>
          </a:solidFill>
          <a:ln w="19050">
            <a:solidFill>
              <a:srgbClr val="A7BEAE"/>
            </a:solidFill>
            <a:prstDash val="dash"/>
          </a:ln>
        </p:spPr>
      </p:sp>
      <p:sp>
        <p:nvSpPr>
          <p:cNvPr id="5" name="Text 3">
            <a:extLst>
              <a:ext uri="{FF2B5EF4-FFF2-40B4-BE49-F238E27FC236}">
                <a16:creationId xmlns:a16="http://schemas.microsoft.com/office/drawing/2014/main" id="{6003DE64-4A54-755B-ED66-82979D4D1C68}"/>
              </a:ext>
            </a:extLst>
          </p:cNvPr>
          <p:cNvSpPr txBox="1"/>
          <p:nvPr/>
        </p:nvSpPr>
        <p:spPr>
          <a:xfrm>
            <a:off x="731520" y="2354580"/>
            <a:ext cx="10698480" cy="914400"/>
          </a:xfrm>
          <a:prstGeom prst="rect">
            <a:avLst/>
          </a:prstGeom>
          <a:noFill/>
          <a:ln/>
        </p:spPr>
        <p:txBody>
          <a:bodyPr wrap="square" lIns="0" tIns="0" rIns="0" bIns="0" rtlCol="0" anchor="ctr"/>
          <a:lstStyle/>
          <a:p>
            <a:pPr marL="0" indent="0" algn="ctr">
              <a:buNone/>
            </a:pPr>
            <a:r>
              <a:rPr lang="en-US" sz="1200" b="1" dirty="0">
                <a:solidFill>
                  <a:srgbClr val="B85042"/>
                </a:solidFill>
                <a:latin typeface="Calibri" pitchFamily="34" charset="0"/>
                <a:ea typeface="Calibri" pitchFamily="34" charset="-122"/>
                <a:cs typeface="Calibri" pitchFamily="34" charset="-120"/>
              </a:rPr>
              <a:t>IMAGE PLACEHOLDER
</a:t>
            </a:r>
            <a:r>
              <a:rPr lang="en-US" sz="1100" i="1" dirty="0">
                <a:solidFill>
                  <a:srgbClr val="6B6259"/>
                </a:solidFill>
                <a:latin typeface="Calibri" pitchFamily="34" charset="0"/>
                <a:ea typeface="Calibri" pitchFamily="34" charset="-122"/>
                <a:cs typeface="Calibri" pitchFamily="34" charset="-120"/>
              </a:rPr>
              <a:t>Full RapidMiner / AI Studio process canvas</a:t>
            </a:r>
            <a:endParaRPr lang="en-US" sz="1200" dirty="0"/>
          </a:p>
          <a:p>
            <a:pPr marL="0" indent="0" algn="ctr">
              <a:buNone/>
            </a:pPr>
            <a:r>
              <a:rPr lang="en-US" sz="1100" i="1" dirty="0">
                <a:solidFill>
                  <a:srgbClr val="6B6259"/>
                </a:solidFill>
                <a:latin typeface="Calibri" pitchFamily="34" charset="0"/>
                <a:ea typeface="Calibri" pitchFamily="34" charset="-122"/>
                <a:cs typeface="Calibri" pitchFamily="34" charset="-120"/>
              </a:rPr>
              <a:t>(Read CSV → preprocessing → Cross Validation)</a:t>
            </a:r>
            <a:endParaRPr lang="en-US" sz="1200" dirty="0"/>
          </a:p>
        </p:txBody>
      </p:sp>
      <p:sp>
        <p:nvSpPr>
          <p:cNvPr id="12" name="Text 10">
            <a:extLst>
              <a:ext uri="{FF2B5EF4-FFF2-40B4-BE49-F238E27FC236}">
                <a16:creationId xmlns:a16="http://schemas.microsoft.com/office/drawing/2014/main" id="{9E53CBCE-4BBC-FE43-BA94-3981C1325027}"/>
              </a:ext>
            </a:extLst>
          </p:cNvPr>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3" name="Text 11">
            <a:extLst>
              <a:ext uri="{FF2B5EF4-FFF2-40B4-BE49-F238E27FC236}">
                <a16:creationId xmlns:a16="http://schemas.microsoft.com/office/drawing/2014/main" id="{2E692D77-4CF2-C9A2-7D0D-F566A94AAADC}"/>
              </a:ext>
            </a:extLst>
          </p:cNvPr>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pitchFamily="34" charset="0"/>
                <a:ea typeface="Calibri" pitchFamily="34" charset="-122"/>
                <a:cs typeface="Calibri" pitchFamily="34" charset="-120"/>
              </a:rPr>
              <a:t>9</a:t>
            </a:r>
            <a:endParaRPr lang="en-US" sz="900" dirty="0"/>
          </a:p>
        </p:txBody>
      </p:sp>
      <p:pic>
        <p:nvPicPr>
          <p:cNvPr id="14" name="Picture 13">
            <a:extLst>
              <a:ext uri="{FF2B5EF4-FFF2-40B4-BE49-F238E27FC236}">
                <a16:creationId xmlns:a16="http://schemas.microsoft.com/office/drawing/2014/main" id="{46363391-6FF4-15E4-56E0-2E98BE0C0251}"/>
              </a:ext>
            </a:extLst>
          </p:cNvPr>
          <p:cNvPicPr>
            <a:picLocks noChangeAspect="1"/>
          </p:cNvPicPr>
          <p:nvPr/>
        </p:nvPicPr>
        <p:blipFill>
          <a:blip r:embed="rId3"/>
          <a:srcRect l="157" t="2878" r="742" b="230"/>
          <a:stretch>
            <a:fillRect/>
          </a:stretch>
        </p:blipFill>
        <p:spPr>
          <a:xfrm>
            <a:off x="544247" y="1636139"/>
            <a:ext cx="11105146" cy="4711835"/>
          </a:xfrm>
          <a:prstGeom prst="rect">
            <a:avLst/>
          </a:prstGeom>
        </p:spPr>
      </p:pic>
    </p:spTree>
    <p:extLst>
      <p:ext uri="{BB962C8B-B14F-4D97-AF65-F5344CB8AC3E}">
        <p14:creationId xmlns:p14="http://schemas.microsoft.com/office/powerpoint/2010/main" val="265339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Machine Learning Workflow — Altair AI Studio</a:t>
            </a:r>
            <a:endParaRPr lang="en-US" sz="3000" dirty="0"/>
          </a:p>
        </p:txBody>
      </p:sp>
      <p:sp>
        <p:nvSpPr>
          <p:cNvPr id="6" name="Text 4"/>
          <p:cNvSpPr txBox="1"/>
          <p:nvPr/>
        </p:nvSpPr>
        <p:spPr>
          <a:xfrm>
            <a:off x="604670" y="1202168"/>
            <a:ext cx="5486400" cy="365760"/>
          </a:xfrm>
          <a:prstGeom prst="rect">
            <a:avLst/>
          </a:prstGeom>
          <a:noFill/>
          <a:ln/>
        </p:spPr>
        <p:txBody>
          <a:bodyPr wrap="square" lIns="0" tIns="0" rIns="0" bIns="0" rtlCol="0" anchor="ctr"/>
          <a:lstStyle/>
          <a:p>
            <a:pPr marL="0" indent="0">
              <a:buNone/>
            </a:pPr>
            <a:r>
              <a:rPr lang="en-US" sz="2400" b="1" dirty="0">
                <a:solidFill>
                  <a:srgbClr val="3A2E28"/>
                </a:solidFill>
                <a:latin typeface="Calibri"/>
                <a:ea typeface="Calibri"/>
                <a:cs typeface="Calibri"/>
              </a:rPr>
              <a:t>Target &amp; predictors</a:t>
            </a:r>
            <a:endParaRPr lang="en-US" sz="2400">
              <a:latin typeface="Calibri"/>
              <a:ea typeface="Calibri"/>
              <a:cs typeface="Calibri"/>
            </a:endParaRPr>
          </a:p>
        </p:txBody>
      </p:sp>
      <p:sp>
        <p:nvSpPr>
          <p:cNvPr id="7" name="Shape 5"/>
          <p:cNvSpPr/>
          <p:nvPr/>
        </p:nvSpPr>
        <p:spPr>
          <a:xfrm>
            <a:off x="683108" y="1714500"/>
            <a:ext cx="10516050" cy="2083846"/>
          </a:xfrm>
          <a:prstGeom prst="rect">
            <a:avLst/>
          </a:prstGeom>
          <a:solidFill>
            <a:srgbClr val="E7E8D1"/>
          </a:solidFill>
          <a:ln/>
        </p:spPr>
      </p:sp>
      <p:sp>
        <p:nvSpPr>
          <p:cNvPr id="8" name="Text 6"/>
          <p:cNvSpPr txBox="1"/>
          <p:nvPr/>
        </p:nvSpPr>
        <p:spPr>
          <a:xfrm>
            <a:off x="809960" y="1951616"/>
            <a:ext cx="10004612" cy="1475143"/>
          </a:xfrm>
          <a:prstGeom prst="rect">
            <a:avLst/>
          </a:prstGeom>
          <a:noFill/>
          <a:ln/>
        </p:spPr>
        <p:txBody>
          <a:bodyPr wrap="square" lIns="0" tIns="0" rIns="0" bIns="0" rtlCol="0" anchor="ctr"/>
          <a:lstStyle/>
          <a:p>
            <a:pPr marL="0" indent="0">
              <a:lnSpc>
                <a:spcPct val="125000"/>
              </a:lnSpc>
              <a:buNone/>
            </a:pPr>
            <a:r>
              <a:rPr lang="en-US" b="1" dirty="0">
                <a:solidFill>
                  <a:srgbClr val="2B2B2B"/>
                </a:solidFill>
                <a:latin typeface="Calibri"/>
                <a:ea typeface="Calibri"/>
                <a:cs typeface="Calibri"/>
              </a:rPr>
              <a:t>Target (label): </a:t>
            </a:r>
            <a:r>
              <a:rPr lang="en-US" b="1" dirty="0">
                <a:solidFill>
                  <a:srgbClr val="B85042"/>
                </a:solidFill>
                <a:latin typeface="Calibri"/>
                <a:ea typeface="Calibri"/>
                <a:cs typeface="Calibri"/>
              </a:rPr>
              <a:t>Type_of_sl</a:t>
            </a:r>
            <a:r>
              <a:rPr lang="en-US" dirty="0">
                <a:solidFill>
                  <a:srgbClr val="2B2B2B"/>
                </a:solidFill>
                <a:latin typeface="Calibri"/>
                <a:ea typeface="Calibri"/>
                <a:cs typeface="Calibri"/>
              </a:rPr>
              <a:t>
→ Debris Flow · Shallow/Surficial Slide · Rockfall
</a:t>
            </a:r>
            <a:r>
              <a:rPr lang="en-US" b="1" dirty="0">
                <a:solidFill>
                  <a:srgbClr val="2B2B2B"/>
                </a:solidFill>
                <a:latin typeface="Calibri"/>
                <a:ea typeface="Calibri"/>
                <a:cs typeface="Calibri"/>
              </a:rPr>
              <a:t>Excluded (leakage risk): </a:t>
            </a:r>
            <a:r>
              <a:rPr lang="en-US" dirty="0">
                <a:solidFill>
                  <a:srgbClr val="2B2B2B"/>
                </a:solidFill>
                <a:latin typeface="Calibri"/>
                <a:ea typeface="Calibri"/>
                <a:cs typeface="Calibri"/>
              </a:rPr>
              <a:t>Area, Length, Width, Damage, Remarks, coordinates, source-confirmation flags, distance-to-station</a:t>
            </a:r>
            <a:endParaRPr lang="en-US">
              <a:latin typeface="Calibri"/>
              <a:ea typeface="Calibri"/>
              <a:cs typeface="Calibri"/>
            </a:endParaRPr>
          </a:p>
        </p:txBody>
      </p:sp>
      <p:sp>
        <p:nvSpPr>
          <p:cNvPr id="9" name="Text 7"/>
          <p:cNvSpPr txBox="1"/>
          <p:nvPr/>
        </p:nvSpPr>
        <p:spPr>
          <a:xfrm>
            <a:off x="683111" y="3947608"/>
            <a:ext cx="6954369" cy="276113"/>
          </a:xfrm>
          <a:prstGeom prst="rect">
            <a:avLst/>
          </a:prstGeom>
          <a:noFill/>
          <a:ln/>
        </p:spPr>
        <p:txBody>
          <a:bodyPr wrap="square" lIns="0" tIns="0" rIns="0" bIns="0" rtlCol="0" anchor="ctr"/>
          <a:lstStyle/>
          <a:p>
            <a:pPr marL="0" indent="0">
              <a:buNone/>
            </a:pPr>
            <a:r>
              <a:rPr lang="en-US" sz="2000" b="1" dirty="0">
                <a:solidFill>
                  <a:srgbClr val="3A2E28"/>
                </a:solidFill>
                <a:latin typeface="Calibri"/>
                <a:ea typeface="Calibri"/>
                <a:cs typeface="Calibri"/>
              </a:rPr>
              <a:t>Predictor set (9 features → 34 after encoding)</a:t>
            </a:r>
            <a:endParaRPr lang="en-US" sz="2000">
              <a:latin typeface="Calibri"/>
              <a:ea typeface="Calibri"/>
              <a:cs typeface="Calibri"/>
            </a:endParaRPr>
          </a:p>
        </p:txBody>
      </p:sp>
      <p:sp>
        <p:nvSpPr>
          <p:cNvPr id="10" name="Shape 8"/>
          <p:cNvSpPr/>
          <p:nvPr/>
        </p:nvSpPr>
        <p:spPr>
          <a:xfrm>
            <a:off x="604671" y="4224618"/>
            <a:ext cx="10683239" cy="1904551"/>
          </a:xfrm>
          <a:prstGeom prst="rect">
            <a:avLst/>
          </a:prstGeom>
          <a:solidFill>
            <a:srgbClr val="F7F5F0"/>
          </a:solidFill>
          <a:ln/>
        </p:spPr>
      </p:sp>
      <p:sp>
        <p:nvSpPr>
          <p:cNvPr id="11" name="Text 9"/>
          <p:cNvSpPr txBox="1"/>
          <p:nvPr/>
        </p:nvSpPr>
        <p:spPr>
          <a:xfrm>
            <a:off x="854785" y="4350572"/>
            <a:ext cx="4983480" cy="1417320"/>
          </a:xfrm>
          <a:prstGeom prst="rect">
            <a:avLst/>
          </a:prstGeom>
          <a:noFill/>
          <a:ln/>
        </p:spPr>
        <p:txBody>
          <a:bodyPr wrap="square" lIns="0" tIns="0" rIns="0" bIns="0" rtlCol="0" anchor="ctr"/>
          <a:lstStyle/>
          <a:p>
            <a:pPr marL="0" indent="0">
              <a:lnSpc>
                <a:spcPct val="135000"/>
              </a:lnSpc>
              <a:buNone/>
            </a:pPr>
            <a:r>
              <a:rPr lang="en-US" dirty="0">
                <a:solidFill>
                  <a:srgbClr val="2B2B2B"/>
                </a:solidFill>
                <a:latin typeface="Calibri"/>
                <a:ea typeface="Calibri"/>
                <a:cs typeface="Calibri"/>
              </a:rPr>
              <a:t>GSI_Susceptibi · LU_2010 · RASTERVALU (slope) · Total_Rainfall · Mean_Daily_Rainfall · Max_1Day_Rainfall · Max_3Day_Rainfall · Max_7Day_Rainfall · Coverage_Ratio</a:t>
            </a:r>
            <a:endParaRPr lang="en-US">
              <a:latin typeface="Calibri"/>
              <a:ea typeface="Calibri"/>
              <a:cs typeface="Calibri"/>
            </a:endParaRPr>
          </a:p>
        </p:txBody>
      </p:sp>
      <p:sp>
        <p:nvSpPr>
          <p:cNvPr id="12" name="Text 10"/>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3" name="Text 11"/>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000000"/>
                </a:solidFill>
                <a:latin typeface="Calibri"/>
                <a:ea typeface="Calibri"/>
                <a:cs typeface="Calibri"/>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Results — Model Comparison</a:t>
            </a:r>
            <a:endParaRPr lang="en-US" sz="3000" dirty="0"/>
          </a:p>
        </p:txBody>
      </p:sp>
      <p:sp>
        <p:nvSpPr>
          <p:cNvPr id="3" name="Text 1"/>
          <p:cNvSpPr txBox="1"/>
          <p:nvPr/>
        </p:nvSpPr>
        <p:spPr>
          <a:xfrm>
            <a:off x="548640" y="960120"/>
            <a:ext cx="10972800" cy="365760"/>
          </a:xfrm>
          <a:prstGeom prst="rect">
            <a:avLst/>
          </a:prstGeom>
          <a:noFill/>
          <a:ln/>
        </p:spPr>
        <p:txBody>
          <a:bodyPr wrap="square" lIns="0" tIns="0" rIns="0" bIns="0" rtlCol="0" anchor="ctr"/>
          <a:lstStyle/>
          <a:p>
            <a:pPr marL="0" indent="0">
              <a:buNone/>
            </a:pPr>
            <a:r>
              <a:rPr lang="en-US" sz="1600" i="1" dirty="0">
                <a:solidFill>
                  <a:srgbClr val="6B6259"/>
                </a:solidFill>
                <a:latin typeface="Calibri"/>
                <a:ea typeface="Calibri"/>
                <a:cs typeface="Calibri"/>
              </a:rPr>
              <a:t>5-fold cross-validation · 4,606 records · 3-class target (Debris Flow / Shallow Slide / Rockfall)</a:t>
            </a:r>
            <a:endParaRPr lang="en-US" sz="1600">
              <a:latin typeface="Calibri"/>
              <a:ea typeface="Calibri"/>
              <a:cs typeface="Calibri"/>
            </a:endParaRPr>
          </a:p>
        </p:txBody>
      </p:sp>
      <p:graphicFrame>
        <p:nvGraphicFramePr>
          <p:cNvPr id="11" name="Table 0"/>
          <p:cNvGraphicFramePr>
            <a:graphicFrameLocks noGrp="1"/>
          </p:cNvGraphicFramePr>
          <p:nvPr>
            <p:extLst>
              <p:ext uri="{D42A27DB-BD31-4B8C-83A1-F6EECF244321}">
                <p14:modId xmlns:p14="http://schemas.microsoft.com/office/powerpoint/2010/main" val="4016700421"/>
              </p:ext>
            </p:extLst>
          </p:nvPr>
        </p:nvGraphicFramePr>
        <p:xfrm>
          <a:off x="548640" y="1508760"/>
          <a:ext cx="11064240" cy="3017520"/>
        </p:xfrm>
        <a:graphic>
          <a:graphicData uri="http://schemas.openxmlformats.org/drawingml/2006/table">
            <a:tbl>
              <a:tblPr/>
              <a:tblGrid>
                <a:gridCol w="3383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02920">
                <a:tc>
                  <a:txBody>
                    <a:bodyPr/>
                    <a:lstStyle/>
                    <a:p>
                      <a:pPr marL="0" indent="0" algn="ctr">
                        <a:buNone/>
                      </a:pPr>
                      <a:r>
                        <a:rPr lang="en-US" sz="1600" dirty="0">
                          <a:solidFill>
                            <a:srgbClr val="2B2B2B"/>
                          </a:solidFill>
                          <a:latin typeface="Calibri"/>
                          <a:ea typeface="Calibri"/>
                          <a:cs typeface="Calibri"/>
                        </a:rPr>
                        <a:t>Metric</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Decision Tree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Random Forest</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Gradient Boosted Trees</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600" dirty="0">
                          <a:solidFill>
                            <a:srgbClr val="2B2B2B"/>
                          </a:solidFill>
                          <a:latin typeface="Calibri"/>
                          <a:ea typeface="Calibri"/>
                          <a:cs typeface="Calibri"/>
                        </a:rPr>
                        <a:t>Overall Accuracy</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72.12%</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73.88%</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73.93%</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600" dirty="0">
                          <a:solidFill>
                            <a:srgbClr val="2B2B2B"/>
                          </a:solidFill>
                          <a:latin typeface="Calibri"/>
                          <a:ea typeface="Calibri"/>
                          <a:cs typeface="Calibri"/>
                        </a:rPr>
                        <a:t>Debris Flow — Recall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68.00%</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72.57%</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76.40%</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600" dirty="0">
                          <a:solidFill>
                            <a:srgbClr val="2B2B2B"/>
                          </a:solidFill>
                          <a:latin typeface="Calibri"/>
                          <a:ea typeface="Calibri"/>
                          <a:cs typeface="Calibri"/>
                        </a:rPr>
                        <a:t>Shallow Slide — Recall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83.08%</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81.36%</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74.22%</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1600" dirty="0">
                          <a:solidFill>
                            <a:srgbClr val="2B2B2B"/>
                          </a:solidFill>
                          <a:latin typeface="Calibri"/>
                          <a:ea typeface="Calibri"/>
                          <a:cs typeface="Calibri"/>
                        </a:rPr>
                        <a:t>Rockfall — Recall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20.39%</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11.84%</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22.37%</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1600" dirty="0">
                          <a:solidFill>
                            <a:srgbClr val="2B2B2B"/>
                          </a:solidFill>
                          <a:latin typeface="Calibri"/>
                          <a:ea typeface="Calibri"/>
                          <a:cs typeface="Calibri"/>
                        </a:rPr>
                        <a:t>Rockfall — Precision</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50.82%</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60.00%</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B2B2B"/>
                          </a:solidFill>
                          <a:latin typeface="Calibri"/>
                          <a:ea typeface="Calibri"/>
                          <a:cs typeface="Calibri"/>
                        </a:rPr>
                        <a:t>60.71%</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1508760"/>
            <a:ext cx="11064240" cy="502920"/>
          </a:xfrm>
          <a:prstGeom prst="rect">
            <a:avLst/>
          </a:prstGeom>
          <a:solidFill>
            <a:srgbClr val="3A2E28"/>
          </a:solidFill>
          <a:ln/>
        </p:spPr>
      </p:sp>
      <p:sp>
        <p:nvSpPr>
          <p:cNvPr id="6" name="Text 3"/>
          <p:cNvSpPr txBox="1"/>
          <p:nvPr/>
        </p:nvSpPr>
        <p:spPr>
          <a:xfrm>
            <a:off x="548640" y="1508760"/>
            <a:ext cx="3383280" cy="502920"/>
          </a:xfrm>
          <a:prstGeom prst="rect">
            <a:avLst/>
          </a:prstGeom>
          <a:noFill/>
          <a:ln/>
        </p:spPr>
        <p:txBody>
          <a:bodyPr wrap="square" lIns="0" tIns="2540" rIns="0" bIns="0" rtlCol="0" anchor="ctr"/>
          <a:lstStyle/>
          <a:p>
            <a:r>
              <a:rPr lang="en-US" b="1">
                <a:solidFill>
                  <a:srgbClr val="FFFFFF"/>
                </a:solidFill>
                <a:latin typeface="Calibri"/>
                <a:ea typeface="Calibri"/>
                <a:cs typeface="Calibri"/>
              </a:rPr>
              <a:t>                            Metric</a:t>
            </a:r>
            <a:endParaRPr lang="en-US">
              <a:latin typeface="Calibri"/>
              <a:ea typeface="Calibri"/>
              <a:cs typeface="Calibri"/>
            </a:endParaRPr>
          </a:p>
        </p:txBody>
      </p:sp>
      <p:sp>
        <p:nvSpPr>
          <p:cNvPr id="7" name="Text 4"/>
          <p:cNvSpPr txBox="1"/>
          <p:nvPr/>
        </p:nvSpPr>
        <p:spPr>
          <a:xfrm>
            <a:off x="3931920" y="1508760"/>
            <a:ext cx="2560320" cy="5029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Decision Tree</a:t>
            </a:r>
            <a:endParaRPr lang="en-US" dirty="0"/>
          </a:p>
        </p:txBody>
      </p:sp>
      <p:sp>
        <p:nvSpPr>
          <p:cNvPr id="8" name="Text 5"/>
          <p:cNvSpPr txBox="1"/>
          <p:nvPr/>
        </p:nvSpPr>
        <p:spPr>
          <a:xfrm>
            <a:off x="6492240" y="1508760"/>
            <a:ext cx="2560320" cy="5029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Random Forest</a:t>
            </a:r>
            <a:endParaRPr lang="en-US" dirty="0"/>
          </a:p>
        </p:txBody>
      </p:sp>
      <p:sp>
        <p:nvSpPr>
          <p:cNvPr id="9" name="Text 6"/>
          <p:cNvSpPr txBox="1"/>
          <p:nvPr/>
        </p:nvSpPr>
        <p:spPr>
          <a:xfrm>
            <a:off x="9052560" y="1508760"/>
            <a:ext cx="2560320" cy="50292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Gradient Boosted Trees</a:t>
            </a:r>
            <a:endParaRPr lang="en-US" dirty="0"/>
          </a:p>
        </p:txBody>
      </p:sp>
      <p:sp>
        <p:nvSpPr>
          <p:cNvPr id="10" name="Shape 7"/>
          <p:cNvSpPr/>
          <p:nvPr/>
        </p:nvSpPr>
        <p:spPr>
          <a:xfrm>
            <a:off x="9052560" y="2011680"/>
            <a:ext cx="2560320" cy="2606040"/>
          </a:xfrm>
          <a:prstGeom prst="rect">
            <a:avLst/>
          </a:prstGeom>
          <a:solidFill>
            <a:srgbClr val="B85042">
              <a:alpha val="12000"/>
            </a:srgbClr>
          </a:solidFill>
          <a:ln w="12700">
            <a:solidFill>
              <a:srgbClr val="B85042"/>
            </a:solidFill>
            <a:prstDash val="solid"/>
          </a:ln>
        </p:spPr>
      </p:sp>
      <p:sp>
        <p:nvSpPr>
          <p:cNvPr id="4" name="Text 8"/>
          <p:cNvSpPr txBox="1"/>
          <p:nvPr/>
        </p:nvSpPr>
        <p:spPr>
          <a:xfrm>
            <a:off x="458994" y="4522247"/>
            <a:ext cx="11411620" cy="1278366"/>
          </a:xfrm>
          <a:prstGeom prst="rect">
            <a:avLst/>
          </a:prstGeom>
          <a:noFill/>
          <a:ln/>
        </p:spPr>
        <p:txBody>
          <a:bodyPr wrap="square" lIns="0" tIns="0" rIns="0" bIns="0" rtlCol="0" anchor="ctr"/>
          <a:lstStyle/>
          <a:p>
            <a:pPr marL="0" indent="0">
              <a:lnSpc>
                <a:spcPct val="130000"/>
              </a:lnSpc>
              <a:buNone/>
            </a:pPr>
            <a:r>
              <a:rPr lang="en-US" sz="2000" b="1" dirty="0">
                <a:solidFill>
                  <a:srgbClr val="B85042"/>
                </a:solidFill>
                <a:latin typeface="Calibri"/>
                <a:ea typeface="Calibri"/>
                <a:cs typeface="Calibri"/>
              </a:rPr>
              <a:t>Gradient Boosted Trees </a:t>
            </a:r>
            <a:r>
              <a:rPr lang="en-US" sz="2000" dirty="0">
                <a:solidFill>
                  <a:srgbClr val="2B2B2B"/>
                </a:solidFill>
                <a:latin typeface="Calibri"/>
                <a:ea typeface="Calibri"/>
                <a:cs typeface="Calibri"/>
              </a:rPr>
              <a:t>achieved the best overall accuracy while also giving the best recall and precision on the minority Rockfall class — a genuine, non-trivial finding, not just “highest accuracy wins.”</a:t>
            </a:r>
            <a:endParaRPr lang="en-US" sz="2000">
              <a:latin typeface="Calibri"/>
              <a:ea typeface="Calibri"/>
              <a:cs typeface="Calibri"/>
            </a:endParaRPr>
          </a:p>
        </p:txBody>
      </p:sp>
      <p:sp>
        <p:nvSpPr>
          <p:cNvPr id="12" name="Text 9"/>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3" name="Text 10"/>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Results — Confusion Matrices</a:t>
            </a:r>
            <a:endParaRPr lang="en-US" sz="3000" dirty="0"/>
          </a:p>
        </p:txBody>
      </p:sp>
      <p:sp>
        <p:nvSpPr>
          <p:cNvPr id="3" name="Text 1"/>
          <p:cNvSpPr txBox="1"/>
          <p:nvPr/>
        </p:nvSpPr>
        <p:spPr>
          <a:xfrm>
            <a:off x="7619551" y="2329030"/>
            <a:ext cx="3657600" cy="365760"/>
          </a:xfrm>
          <a:prstGeom prst="rect">
            <a:avLst/>
          </a:prstGeom>
          <a:noFill/>
          <a:ln/>
        </p:spPr>
        <p:txBody>
          <a:bodyPr wrap="square" lIns="0" tIns="0" rIns="0" bIns="0" rtlCol="0" anchor="ctr"/>
          <a:lstStyle/>
          <a:p>
            <a:pPr marL="0" indent="0">
              <a:buNone/>
            </a:pPr>
            <a:r>
              <a:rPr lang="en-US" sz="1300" b="1" dirty="0">
                <a:solidFill>
                  <a:srgbClr val="3A2E28"/>
                </a:solidFill>
                <a:latin typeface="Calibri" pitchFamily="34" charset="0"/>
                <a:ea typeface="Calibri" pitchFamily="34" charset="-122"/>
                <a:cs typeface="Calibri" pitchFamily="34" charset="-120"/>
              </a:rPr>
              <a:t>Decision Tree</a:t>
            </a:r>
            <a:endParaRPr lang="en-US" sz="1300" dirty="0"/>
          </a:p>
        </p:txBody>
      </p:sp>
      <p:sp>
        <p:nvSpPr>
          <p:cNvPr id="6" name="Text 4"/>
          <p:cNvSpPr txBox="1"/>
          <p:nvPr/>
        </p:nvSpPr>
        <p:spPr>
          <a:xfrm>
            <a:off x="730982" y="1130001"/>
            <a:ext cx="3657600" cy="365760"/>
          </a:xfrm>
          <a:prstGeom prst="rect">
            <a:avLst/>
          </a:prstGeom>
          <a:noFill/>
          <a:ln/>
        </p:spPr>
        <p:txBody>
          <a:bodyPr wrap="square" lIns="0" tIns="0" rIns="0" bIns="0" rtlCol="0" anchor="ctr"/>
          <a:lstStyle/>
          <a:p>
            <a:pPr marL="0" indent="0">
              <a:buNone/>
            </a:pPr>
            <a:r>
              <a:rPr lang="en-US" sz="2000" b="1" dirty="0">
                <a:solidFill>
                  <a:srgbClr val="3A2E28"/>
                </a:solidFill>
                <a:latin typeface="Calibri"/>
                <a:ea typeface="Calibri"/>
                <a:cs typeface="Calibri"/>
              </a:rPr>
              <a:t>Random Forest</a:t>
            </a:r>
            <a:endParaRPr lang="en-US" sz="2000">
              <a:latin typeface="Calibri"/>
              <a:ea typeface="Calibri"/>
              <a:cs typeface="Calibri"/>
            </a:endParaRPr>
          </a:p>
        </p:txBody>
      </p:sp>
      <p:sp>
        <p:nvSpPr>
          <p:cNvPr id="9" name="Text 7"/>
          <p:cNvSpPr txBox="1"/>
          <p:nvPr/>
        </p:nvSpPr>
        <p:spPr>
          <a:xfrm>
            <a:off x="734030" y="3853031"/>
            <a:ext cx="3657600" cy="365760"/>
          </a:xfrm>
          <a:prstGeom prst="rect">
            <a:avLst/>
          </a:prstGeom>
          <a:noFill/>
          <a:ln/>
        </p:spPr>
        <p:txBody>
          <a:bodyPr wrap="square" lIns="0" tIns="0" rIns="0" bIns="0" rtlCol="0" anchor="ctr"/>
          <a:lstStyle/>
          <a:p>
            <a:r>
              <a:rPr lang="en-US" sz="2000" b="1" dirty="0">
                <a:solidFill>
                  <a:srgbClr val="3A2E28"/>
                </a:solidFill>
                <a:latin typeface="Calibri"/>
                <a:ea typeface="Calibri"/>
                <a:cs typeface="Calibri"/>
              </a:rPr>
              <a:t>Decision Tree</a:t>
            </a:r>
            <a:endParaRPr lang="en-US" sz="2000">
              <a:ea typeface="Calibri"/>
              <a:cs typeface="Calibri"/>
            </a:endParaRPr>
          </a:p>
        </p:txBody>
      </p:sp>
      <p:sp>
        <p:nvSpPr>
          <p:cNvPr id="14" name="Text 12"/>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5" name="Text 13"/>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12</a:t>
            </a:r>
            <a:endParaRPr lang="en-US" sz="900" dirty="0"/>
          </a:p>
        </p:txBody>
      </p:sp>
      <p:pic>
        <p:nvPicPr>
          <p:cNvPr id="16" name="Picture 15">
            <a:extLst>
              <a:ext uri="{FF2B5EF4-FFF2-40B4-BE49-F238E27FC236}">
                <a16:creationId xmlns:a16="http://schemas.microsoft.com/office/drawing/2014/main" id="{6C1A1DFF-84E3-310F-F12D-BCD12ED9CCD4}"/>
              </a:ext>
            </a:extLst>
          </p:cNvPr>
          <p:cNvPicPr>
            <a:picLocks noChangeAspect="1"/>
          </p:cNvPicPr>
          <p:nvPr/>
        </p:nvPicPr>
        <p:blipFill>
          <a:blip r:embed="rId3"/>
          <a:stretch>
            <a:fillRect/>
          </a:stretch>
        </p:blipFill>
        <p:spPr>
          <a:xfrm>
            <a:off x="732864" y="1593476"/>
            <a:ext cx="8339420" cy="2259106"/>
          </a:xfrm>
          <a:prstGeom prst="rect">
            <a:avLst/>
          </a:prstGeom>
        </p:spPr>
      </p:pic>
      <p:pic>
        <p:nvPicPr>
          <p:cNvPr id="17" name="Picture 16">
            <a:extLst>
              <a:ext uri="{FF2B5EF4-FFF2-40B4-BE49-F238E27FC236}">
                <a16:creationId xmlns:a16="http://schemas.microsoft.com/office/drawing/2014/main" id="{DEEE4E61-099F-C910-3BA0-1065678AECA0}"/>
              </a:ext>
            </a:extLst>
          </p:cNvPr>
          <p:cNvPicPr>
            <a:picLocks noChangeAspect="1"/>
          </p:cNvPicPr>
          <p:nvPr/>
        </p:nvPicPr>
        <p:blipFill>
          <a:blip r:embed="rId4"/>
          <a:stretch>
            <a:fillRect/>
          </a:stretch>
        </p:blipFill>
        <p:spPr>
          <a:xfrm>
            <a:off x="719698" y="4211731"/>
            <a:ext cx="8533840" cy="2076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53CE90D-7957-487D-D77D-14585D2D14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E473A0-1E1C-04FC-0B4D-36C37A0FAEC6}"/>
              </a:ext>
            </a:extLst>
          </p:cNvPr>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Results — Confusion Matrices</a:t>
            </a:r>
            <a:endParaRPr lang="en-US" sz="3000" dirty="0"/>
          </a:p>
        </p:txBody>
      </p:sp>
      <p:sp>
        <p:nvSpPr>
          <p:cNvPr id="6" name="Text 4">
            <a:extLst>
              <a:ext uri="{FF2B5EF4-FFF2-40B4-BE49-F238E27FC236}">
                <a16:creationId xmlns:a16="http://schemas.microsoft.com/office/drawing/2014/main" id="{7952AC0A-A09C-05A1-6668-4D664CAD08AD}"/>
              </a:ext>
            </a:extLst>
          </p:cNvPr>
          <p:cNvSpPr txBox="1"/>
          <p:nvPr/>
        </p:nvSpPr>
        <p:spPr>
          <a:xfrm>
            <a:off x="719776" y="1006736"/>
            <a:ext cx="3657600" cy="365760"/>
          </a:xfrm>
          <a:prstGeom prst="rect">
            <a:avLst/>
          </a:prstGeom>
          <a:noFill/>
          <a:ln/>
        </p:spPr>
        <p:txBody>
          <a:bodyPr wrap="square" lIns="0" tIns="0" rIns="0" bIns="0" rtlCol="0" anchor="ctr"/>
          <a:lstStyle/>
          <a:p>
            <a:r>
              <a:rPr lang="en-US" sz="2000" b="1" dirty="0">
                <a:solidFill>
                  <a:srgbClr val="3A2E28"/>
                </a:solidFill>
                <a:latin typeface="Calibri"/>
                <a:ea typeface="Calibri"/>
                <a:cs typeface="Calibri"/>
              </a:rPr>
              <a:t>Gradient Boosted Trees</a:t>
            </a:r>
            <a:endParaRPr lang="en-US" dirty="0"/>
          </a:p>
        </p:txBody>
      </p:sp>
      <p:sp>
        <p:nvSpPr>
          <p:cNvPr id="14" name="Text 12">
            <a:extLst>
              <a:ext uri="{FF2B5EF4-FFF2-40B4-BE49-F238E27FC236}">
                <a16:creationId xmlns:a16="http://schemas.microsoft.com/office/drawing/2014/main" id="{FBE4184C-230E-A4E6-A5B4-3E552736EFF3}"/>
              </a:ext>
            </a:extLst>
          </p:cNvPr>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15" name="Text 13">
            <a:extLst>
              <a:ext uri="{FF2B5EF4-FFF2-40B4-BE49-F238E27FC236}">
                <a16:creationId xmlns:a16="http://schemas.microsoft.com/office/drawing/2014/main" id="{21580117-9641-F13E-49EB-B7DF168322E0}"/>
              </a:ext>
            </a:extLst>
          </p:cNvPr>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13</a:t>
            </a:r>
            <a:endParaRPr lang="en-US" sz="900" dirty="0"/>
          </a:p>
        </p:txBody>
      </p:sp>
      <p:pic>
        <p:nvPicPr>
          <p:cNvPr id="4" name="Picture 3">
            <a:extLst>
              <a:ext uri="{FF2B5EF4-FFF2-40B4-BE49-F238E27FC236}">
                <a16:creationId xmlns:a16="http://schemas.microsoft.com/office/drawing/2014/main" id="{90DD0125-D974-56DE-37C1-E0E5BBB0D2C0}"/>
              </a:ext>
            </a:extLst>
          </p:cNvPr>
          <p:cNvPicPr>
            <a:picLocks noChangeAspect="1"/>
          </p:cNvPicPr>
          <p:nvPr/>
        </p:nvPicPr>
        <p:blipFill>
          <a:blip r:embed="rId3"/>
          <a:stretch>
            <a:fillRect/>
          </a:stretch>
        </p:blipFill>
        <p:spPr>
          <a:xfrm>
            <a:off x="550489" y="1367398"/>
            <a:ext cx="9477375" cy="2352675"/>
          </a:xfrm>
          <a:prstGeom prst="rect">
            <a:avLst/>
          </a:prstGeom>
        </p:spPr>
      </p:pic>
    </p:spTree>
    <p:extLst>
      <p:ext uri="{BB962C8B-B14F-4D97-AF65-F5344CB8AC3E}">
        <p14:creationId xmlns:p14="http://schemas.microsoft.com/office/powerpoint/2010/main" val="2178487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000" b="1" dirty="0">
                <a:solidFill>
                  <a:srgbClr val="3A2E28"/>
                </a:solidFill>
                <a:latin typeface="Cambria" pitchFamily="34" charset="0"/>
                <a:ea typeface="Cambria" pitchFamily="34" charset="-122"/>
                <a:cs typeface="Cambria" pitchFamily="34" charset="-120"/>
              </a:rPr>
              <a:t>Feature Importance &amp; Key Findings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2942629953"/>
              </p:ext>
            </p:extLst>
          </p:nvPr>
        </p:nvGraphicFramePr>
        <p:xfrm>
          <a:off x="548640" y="1371600"/>
          <a:ext cx="5577840" cy="3547872"/>
        </p:xfrm>
        <a:graphic>
          <a:graphicData uri="http://schemas.openxmlformats.org/drawingml/2006/table">
            <a:tbl>
              <a:tblPr/>
              <a:tblGrid>
                <a:gridCol w="822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43484">
                <a:tc>
                  <a:txBody>
                    <a:bodyPr/>
                    <a:lstStyle/>
                    <a:p>
                      <a:pPr marL="0" indent="0">
                        <a:buNone/>
                      </a:pPr>
                      <a:r>
                        <a:rPr lang="en-US" sz="1600" dirty="0">
                          <a:solidFill>
                            <a:srgbClr val="2B2B2B"/>
                          </a:solidFill>
                          <a:latin typeface="Calibri"/>
                          <a:ea typeface="Calibri"/>
                          <a:cs typeface="Calibri"/>
                        </a:rPr>
                        <a:t>Rank</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Feature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Importance</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43484">
                <a:tc>
                  <a:txBody>
                    <a:bodyPr/>
                    <a:lstStyle/>
                    <a:p>
                      <a:pPr marL="0" indent="0">
                        <a:buNone/>
                      </a:pPr>
                      <a:r>
                        <a:rPr lang="en-US" sz="1600" dirty="0">
                          <a:solidFill>
                            <a:srgbClr val="2B2B2B"/>
                          </a:solidFill>
                          <a:latin typeface="Calibri"/>
                          <a:ea typeface="Calibri"/>
                          <a:cs typeface="Calibri"/>
                        </a:rPr>
                        <a:t>1</a:t>
                      </a:r>
                      <a:endParaRPr lang="en-US" sz="18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Slope (RASTERVALU)</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2.942</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3484">
                <a:tc>
                  <a:txBody>
                    <a:bodyPr/>
                    <a:lstStyle/>
                    <a:p>
                      <a:pPr marL="0" indent="0">
                        <a:buNone/>
                      </a:pPr>
                      <a:r>
                        <a:rPr lang="en-US" sz="1600" dirty="0">
                          <a:solidFill>
                            <a:srgbClr val="2B2B2B"/>
                          </a:solidFill>
                          <a:latin typeface="Calibri"/>
                          <a:ea typeface="Calibri"/>
                          <a:cs typeface="Calibri"/>
                        </a:rPr>
                        <a:t>2</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Coverage_Ratio *</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0.775</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3484">
                <a:tc>
                  <a:txBody>
                    <a:bodyPr/>
                    <a:lstStyle/>
                    <a:p>
                      <a:pPr marL="0" indent="0">
                        <a:buNone/>
                      </a:pPr>
                      <a:r>
                        <a:rPr lang="en-US" sz="1600" dirty="0">
                          <a:solidFill>
                            <a:srgbClr val="2B2B2B"/>
                          </a:solidFill>
                          <a:latin typeface="Calibri"/>
                          <a:ea typeface="Calibri"/>
                          <a:cs typeface="Calibri"/>
                        </a:rPr>
                        <a:t>3</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Total_Rainfall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0.559</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3484">
                <a:tc>
                  <a:txBody>
                    <a:bodyPr/>
                    <a:lstStyle/>
                    <a:p>
                      <a:pPr marL="0" indent="0">
                        <a:buNone/>
                      </a:pPr>
                      <a:r>
                        <a:rPr lang="en-US" sz="1600" dirty="0">
                          <a:solidFill>
                            <a:srgbClr val="2B2B2B"/>
                          </a:solidFill>
                          <a:latin typeface="Calibri"/>
                          <a:ea typeface="Calibri"/>
                          <a:cs typeface="Calibri"/>
                        </a:rPr>
                        <a:t>4</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Mean_Daily_Rainfall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0.558</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3484">
                <a:tc>
                  <a:txBody>
                    <a:bodyPr/>
                    <a:lstStyle/>
                    <a:p>
                      <a:pPr marL="0" indent="0">
                        <a:buNone/>
                      </a:pPr>
                      <a:r>
                        <a:rPr lang="en-US" sz="1600" dirty="0">
                          <a:solidFill>
                            <a:srgbClr val="2B2B2B"/>
                          </a:solidFill>
                          <a:latin typeface="Calibri"/>
                          <a:ea typeface="Calibri"/>
                          <a:cs typeface="Calibri"/>
                        </a:rPr>
                        <a:t>5</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Max_1Day_Rainfall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0.464</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3484">
                <a:tc>
                  <a:txBody>
                    <a:bodyPr/>
                    <a:lstStyle/>
                    <a:p>
                      <a:pPr marL="0" indent="0">
                        <a:buNone/>
                      </a:pPr>
                      <a:r>
                        <a:rPr lang="en-US" sz="1600" dirty="0">
                          <a:solidFill>
                            <a:srgbClr val="2B2B2B"/>
                          </a:solidFill>
                          <a:latin typeface="Calibri"/>
                          <a:ea typeface="Calibri"/>
                          <a:cs typeface="Calibri"/>
                        </a:rPr>
                        <a:t>6</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Max_3Day_Rainfall</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0.365</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3484">
                <a:tc>
                  <a:txBody>
                    <a:bodyPr/>
                    <a:lstStyle/>
                    <a:p>
                      <a:pPr marL="0" indent="0">
                        <a:buNone/>
                      </a:pPr>
                      <a:r>
                        <a:rPr lang="en-US" sz="1600" dirty="0">
                          <a:solidFill>
                            <a:srgbClr val="2B2B2B"/>
                          </a:solidFill>
                          <a:latin typeface="Calibri"/>
                          <a:ea typeface="Calibri"/>
                          <a:cs typeface="Calibri"/>
                        </a:rPr>
                        <a:t>7</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GSI_Susceptibi (High)</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marL="0" indent="0">
                        <a:buNone/>
                      </a:pPr>
                      <a:r>
                        <a:rPr lang="en-US" sz="1600" dirty="0">
                          <a:solidFill>
                            <a:srgbClr val="2B2B2B"/>
                          </a:solidFill>
                          <a:latin typeface="Calibri"/>
                          <a:ea typeface="Calibri"/>
                          <a:cs typeface="Calibri"/>
                        </a:rPr>
                        <a:t>0.338</a:t>
                      </a:r>
                      <a:endParaRPr lang="en-US" sz="1600">
                        <a:latin typeface="Calibri"/>
                        <a:ea typeface="Calibri"/>
                        <a:cs typeface="Calibri"/>
                      </a:endParaRPr>
                    </a:p>
                  </a:txBody>
                  <a:tcP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hape 1"/>
          <p:cNvSpPr/>
          <p:nvPr/>
        </p:nvSpPr>
        <p:spPr>
          <a:xfrm>
            <a:off x="548640" y="1371600"/>
            <a:ext cx="5577840" cy="443484"/>
          </a:xfrm>
          <a:prstGeom prst="rect">
            <a:avLst/>
          </a:prstGeom>
          <a:solidFill>
            <a:srgbClr val="B85042"/>
          </a:solidFill>
          <a:ln/>
        </p:spPr>
      </p:sp>
      <p:sp>
        <p:nvSpPr>
          <p:cNvPr id="5" name="Text 2"/>
          <p:cNvSpPr txBox="1"/>
          <p:nvPr/>
        </p:nvSpPr>
        <p:spPr>
          <a:xfrm>
            <a:off x="548640" y="1371600"/>
            <a:ext cx="822960" cy="443484"/>
          </a:xfrm>
          <a:prstGeom prst="rect">
            <a:avLst/>
          </a:prstGeom>
          <a:noFill/>
          <a:ln/>
        </p:spPr>
        <p:txBody>
          <a:bodyPr wrap="square" lIns="0" tIns="0" rIns="0" bIns="0" rtlCol="0" anchor="ctr"/>
          <a:lstStyle/>
          <a:p>
            <a:pPr marL="0" indent="0" algn="ctr">
              <a:buNone/>
            </a:pPr>
            <a:r>
              <a:rPr lang="en-US" b="1" dirty="0">
                <a:solidFill>
                  <a:srgbClr val="FFFFFF"/>
                </a:solidFill>
                <a:latin typeface="Calibri"/>
                <a:ea typeface="Calibri"/>
                <a:cs typeface="Calibri"/>
              </a:rPr>
              <a:t>Rank</a:t>
            </a:r>
            <a:endParaRPr lang="en-US">
              <a:latin typeface="Calibri"/>
              <a:ea typeface="Calibri"/>
              <a:cs typeface="Calibri"/>
            </a:endParaRPr>
          </a:p>
        </p:txBody>
      </p:sp>
      <p:sp>
        <p:nvSpPr>
          <p:cNvPr id="6" name="Text 3"/>
          <p:cNvSpPr txBox="1"/>
          <p:nvPr/>
        </p:nvSpPr>
        <p:spPr>
          <a:xfrm>
            <a:off x="1371600" y="1371600"/>
            <a:ext cx="3291840" cy="443484"/>
          </a:xfrm>
          <a:prstGeom prst="rect">
            <a:avLst/>
          </a:prstGeom>
          <a:noFill/>
          <a:ln/>
        </p:spPr>
        <p:txBody>
          <a:bodyPr wrap="square" lIns="0" tIns="0" rIns="0" bIns="0" rtlCol="0" anchor="ctr"/>
          <a:lstStyle/>
          <a:p>
            <a:pPr marL="0" indent="0" algn="l">
              <a:buNone/>
            </a:pPr>
            <a:r>
              <a:rPr lang="en-US" sz="2000" b="1" dirty="0">
                <a:solidFill>
                  <a:srgbClr val="FFFFFF"/>
                </a:solidFill>
                <a:latin typeface="Calibri"/>
                <a:ea typeface="Calibri"/>
                <a:cs typeface="Calibri"/>
              </a:rPr>
              <a:t>Feature</a:t>
            </a:r>
            <a:endParaRPr lang="en-US" sz="2000">
              <a:latin typeface="Calibri"/>
              <a:ea typeface="Calibri"/>
              <a:cs typeface="Calibri"/>
            </a:endParaRPr>
          </a:p>
        </p:txBody>
      </p:sp>
      <p:sp>
        <p:nvSpPr>
          <p:cNvPr id="7" name="Text 4"/>
          <p:cNvSpPr txBox="1"/>
          <p:nvPr/>
        </p:nvSpPr>
        <p:spPr>
          <a:xfrm>
            <a:off x="4663440" y="1371600"/>
            <a:ext cx="1463040" cy="443484"/>
          </a:xfrm>
          <a:prstGeom prst="rect">
            <a:avLst/>
          </a:prstGeom>
          <a:noFill/>
          <a:ln/>
        </p:spPr>
        <p:txBody>
          <a:bodyPr wrap="square" lIns="0" tIns="0" rIns="0" bIns="0" rtlCol="0" anchor="ctr"/>
          <a:lstStyle/>
          <a:p>
            <a:pPr marL="0" indent="0" algn="l">
              <a:buNone/>
            </a:pPr>
            <a:r>
              <a:rPr lang="en-US" b="1" dirty="0">
                <a:solidFill>
                  <a:srgbClr val="FFFFFF"/>
                </a:solidFill>
                <a:latin typeface="Calibri"/>
                <a:ea typeface="Calibri"/>
                <a:cs typeface="Calibri"/>
              </a:rPr>
              <a:t>Importance</a:t>
            </a:r>
            <a:endParaRPr lang="en-US">
              <a:latin typeface="Calibri"/>
              <a:ea typeface="Calibri"/>
              <a:cs typeface="Calibri"/>
            </a:endParaRPr>
          </a:p>
        </p:txBody>
      </p:sp>
      <p:sp>
        <p:nvSpPr>
          <p:cNvPr id="8" name="Text 5"/>
          <p:cNvSpPr txBox="1"/>
          <p:nvPr/>
        </p:nvSpPr>
        <p:spPr>
          <a:xfrm>
            <a:off x="548640" y="5029200"/>
            <a:ext cx="5577840" cy="548640"/>
          </a:xfrm>
          <a:prstGeom prst="rect">
            <a:avLst/>
          </a:prstGeom>
          <a:noFill/>
          <a:ln/>
        </p:spPr>
        <p:txBody>
          <a:bodyPr wrap="square" lIns="0" tIns="0" rIns="0" bIns="0" rtlCol="0" anchor="ctr"/>
          <a:lstStyle/>
          <a:p>
            <a:pPr marL="0" indent="0">
              <a:lnSpc>
                <a:spcPct val="120000"/>
              </a:lnSpc>
              <a:buNone/>
            </a:pPr>
            <a:r>
              <a:rPr lang="en-US" sz="1600" i="1" dirty="0">
                <a:solidFill>
                  <a:srgbClr val="6B6259"/>
                </a:solidFill>
                <a:latin typeface="Calibri"/>
                <a:ea typeface="Calibri"/>
                <a:cs typeface="Calibri"/>
              </a:rPr>
              <a:t>* Coverage_Ratio reflects rainfall-data reliability rather than a true physical driver — noted as a caveat, not treated as a causal factor</a:t>
            </a:r>
            <a:r>
              <a:rPr lang="en-US" sz="1100" i="1" dirty="0">
                <a:solidFill>
                  <a:srgbClr val="6B6259"/>
                </a:solidFill>
                <a:latin typeface="Calibri"/>
                <a:ea typeface="Calibri"/>
                <a:cs typeface="Calibri"/>
              </a:rPr>
              <a:t>.</a:t>
            </a:r>
            <a:endParaRPr lang="en-US" sz="1100">
              <a:latin typeface="Calibri"/>
              <a:ea typeface="Calibri"/>
              <a:cs typeface="Calibri"/>
            </a:endParaRPr>
          </a:p>
        </p:txBody>
      </p:sp>
      <p:sp>
        <p:nvSpPr>
          <p:cNvPr id="9" name="Text 6"/>
          <p:cNvSpPr txBox="1"/>
          <p:nvPr/>
        </p:nvSpPr>
        <p:spPr>
          <a:xfrm>
            <a:off x="6400800" y="1371600"/>
            <a:ext cx="5212080" cy="365760"/>
          </a:xfrm>
          <a:prstGeom prst="rect">
            <a:avLst/>
          </a:prstGeom>
          <a:noFill/>
          <a:ln/>
        </p:spPr>
        <p:txBody>
          <a:bodyPr wrap="square" lIns="0" tIns="0" rIns="0" bIns="0" rtlCol="0" anchor="ctr"/>
          <a:lstStyle/>
          <a:p>
            <a:pPr marL="0" indent="0">
              <a:buNone/>
            </a:pPr>
            <a:r>
              <a:rPr lang="en-US" b="1" dirty="0">
                <a:solidFill>
                  <a:srgbClr val="3A2E28"/>
                </a:solidFill>
                <a:latin typeface="Calibri"/>
                <a:ea typeface="Calibri"/>
                <a:cs typeface="Calibri"/>
              </a:rPr>
              <a:t>What this tells us</a:t>
            </a:r>
            <a:endParaRPr lang="en-US">
              <a:latin typeface="Calibri"/>
              <a:ea typeface="Calibri"/>
              <a:cs typeface="Calibri"/>
            </a:endParaRPr>
          </a:p>
        </p:txBody>
      </p:sp>
      <p:sp>
        <p:nvSpPr>
          <p:cNvPr id="10" name="Shape 7"/>
          <p:cNvSpPr/>
          <p:nvPr/>
        </p:nvSpPr>
        <p:spPr>
          <a:xfrm>
            <a:off x="6400800" y="1828800"/>
            <a:ext cx="320040" cy="320040"/>
          </a:xfrm>
          <a:prstGeom prst="ellipse">
            <a:avLst/>
          </a:prstGeom>
          <a:solidFill>
            <a:srgbClr val="A7BEAE"/>
          </a:solidFill>
          <a:ln/>
        </p:spPr>
      </p:sp>
      <p:sp>
        <p:nvSpPr>
          <p:cNvPr id="11" name="Text 8"/>
          <p:cNvSpPr txBox="1"/>
          <p:nvPr/>
        </p:nvSpPr>
        <p:spPr>
          <a:xfrm>
            <a:off x="6400800" y="1828800"/>
            <a:ext cx="32004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2" name="Text 9"/>
          <p:cNvSpPr txBox="1"/>
          <p:nvPr/>
        </p:nvSpPr>
        <p:spPr>
          <a:xfrm>
            <a:off x="6903720" y="1715845"/>
            <a:ext cx="4709160" cy="731520"/>
          </a:xfrm>
          <a:prstGeom prst="rect">
            <a:avLst/>
          </a:prstGeom>
          <a:noFill/>
          <a:ln/>
        </p:spPr>
        <p:txBody>
          <a:bodyPr wrap="square" lIns="0" tIns="0" rIns="0" bIns="0" rtlCol="0" anchor="ctr"/>
          <a:lstStyle/>
          <a:p>
            <a:pPr marL="0" indent="0">
              <a:lnSpc>
                <a:spcPct val="120000"/>
              </a:lnSpc>
              <a:buNone/>
            </a:pPr>
            <a:r>
              <a:rPr lang="en-US" dirty="0">
                <a:solidFill>
                  <a:srgbClr val="2B2B2B"/>
                </a:solidFill>
                <a:latin typeface="Calibri"/>
                <a:ea typeface="Calibri"/>
                <a:cs typeface="Calibri"/>
              </a:rPr>
              <a:t>Slope is by far the dominant predictor of landslide type — roughly 4× the next-highest feature.</a:t>
            </a:r>
            <a:endParaRPr lang="en-US">
              <a:latin typeface="Calibri"/>
              <a:ea typeface="Calibri"/>
              <a:cs typeface="Calibri"/>
            </a:endParaRPr>
          </a:p>
        </p:txBody>
      </p:sp>
      <p:sp>
        <p:nvSpPr>
          <p:cNvPr id="3" name="Shape 10"/>
          <p:cNvSpPr/>
          <p:nvPr/>
        </p:nvSpPr>
        <p:spPr>
          <a:xfrm>
            <a:off x="6400800" y="2606040"/>
            <a:ext cx="320040" cy="320040"/>
          </a:xfrm>
          <a:prstGeom prst="ellipse">
            <a:avLst/>
          </a:prstGeom>
          <a:solidFill>
            <a:srgbClr val="A7BEAE"/>
          </a:solidFill>
          <a:ln/>
        </p:spPr>
      </p:sp>
      <p:sp>
        <p:nvSpPr>
          <p:cNvPr id="14" name="Text 11"/>
          <p:cNvSpPr txBox="1"/>
          <p:nvPr/>
        </p:nvSpPr>
        <p:spPr>
          <a:xfrm>
            <a:off x="6400800" y="2606040"/>
            <a:ext cx="32004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5" name="Text 12"/>
          <p:cNvSpPr txBox="1"/>
          <p:nvPr/>
        </p:nvSpPr>
        <p:spPr>
          <a:xfrm>
            <a:off x="6903720" y="2448261"/>
            <a:ext cx="4709160" cy="731520"/>
          </a:xfrm>
          <a:prstGeom prst="rect">
            <a:avLst/>
          </a:prstGeom>
          <a:noFill/>
          <a:ln/>
        </p:spPr>
        <p:txBody>
          <a:bodyPr wrap="square" lIns="0" tIns="0" rIns="0" bIns="0" rtlCol="0" anchor="ctr"/>
          <a:lstStyle/>
          <a:p>
            <a:pPr marL="0" indent="0">
              <a:lnSpc>
                <a:spcPct val="120000"/>
              </a:lnSpc>
              <a:buNone/>
            </a:pPr>
            <a:r>
              <a:rPr lang="en-US" dirty="0">
                <a:solidFill>
                  <a:srgbClr val="2B2B2B"/>
                </a:solidFill>
                <a:latin typeface="Calibri"/>
                <a:ea typeface="Calibri"/>
                <a:cs typeface="Calibri"/>
              </a:rPr>
              <a:t>Rainfall intensity measures (total, mean daily, 1/3-day max) form a strong second tier.</a:t>
            </a:r>
            <a:endParaRPr lang="en-US">
              <a:latin typeface="Calibri"/>
              <a:ea typeface="Calibri"/>
              <a:cs typeface="Calibri"/>
            </a:endParaRPr>
          </a:p>
        </p:txBody>
      </p:sp>
      <p:sp>
        <p:nvSpPr>
          <p:cNvPr id="16" name="Shape 13"/>
          <p:cNvSpPr/>
          <p:nvPr/>
        </p:nvSpPr>
        <p:spPr>
          <a:xfrm>
            <a:off x="6400800" y="3383280"/>
            <a:ext cx="320040" cy="320040"/>
          </a:xfrm>
          <a:prstGeom prst="ellipse">
            <a:avLst/>
          </a:prstGeom>
          <a:solidFill>
            <a:srgbClr val="A7BEAE"/>
          </a:solidFill>
          <a:ln/>
        </p:spPr>
      </p:sp>
      <p:sp>
        <p:nvSpPr>
          <p:cNvPr id="17" name="Text 14"/>
          <p:cNvSpPr txBox="1"/>
          <p:nvPr/>
        </p:nvSpPr>
        <p:spPr>
          <a:xfrm>
            <a:off x="6400800" y="3383280"/>
            <a:ext cx="32004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8" name="Text 15"/>
          <p:cNvSpPr txBox="1"/>
          <p:nvPr/>
        </p:nvSpPr>
        <p:spPr>
          <a:xfrm>
            <a:off x="6892515" y="3191884"/>
            <a:ext cx="5034129" cy="753931"/>
          </a:xfrm>
          <a:prstGeom prst="rect">
            <a:avLst/>
          </a:prstGeom>
          <a:noFill/>
          <a:ln/>
        </p:spPr>
        <p:txBody>
          <a:bodyPr wrap="square" lIns="0" tIns="0" rIns="0" bIns="0" rtlCol="0" anchor="ctr"/>
          <a:lstStyle/>
          <a:p>
            <a:pPr marL="0" indent="0">
              <a:lnSpc>
                <a:spcPct val="120000"/>
              </a:lnSpc>
              <a:buNone/>
            </a:pPr>
            <a:r>
              <a:rPr lang="en-US" dirty="0">
                <a:solidFill>
                  <a:srgbClr val="2B2B2B"/>
                </a:solidFill>
                <a:latin typeface="Calibri"/>
                <a:ea typeface="Calibri"/>
                <a:cs typeface="Calibri"/>
              </a:rPr>
              <a:t>GSI susceptibility contributes meaningfully — confirming it still carries real signal.</a:t>
            </a:r>
            <a:endParaRPr lang="en-US">
              <a:latin typeface="Calibri"/>
              <a:ea typeface="Calibri"/>
              <a:cs typeface="Calibri"/>
            </a:endParaRPr>
          </a:p>
        </p:txBody>
      </p:sp>
      <p:sp>
        <p:nvSpPr>
          <p:cNvPr id="19" name="Shape 16"/>
          <p:cNvSpPr/>
          <p:nvPr/>
        </p:nvSpPr>
        <p:spPr>
          <a:xfrm>
            <a:off x="6400800" y="4160520"/>
            <a:ext cx="320040" cy="320040"/>
          </a:xfrm>
          <a:prstGeom prst="ellipse">
            <a:avLst/>
          </a:prstGeom>
          <a:solidFill>
            <a:srgbClr val="A7BEAE"/>
          </a:solidFill>
          <a:ln/>
        </p:spPr>
      </p:sp>
      <p:sp>
        <p:nvSpPr>
          <p:cNvPr id="20" name="Text 17"/>
          <p:cNvSpPr txBox="1"/>
          <p:nvPr/>
        </p:nvSpPr>
        <p:spPr>
          <a:xfrm>
            <a:off x="6400800" y="4160520"/>
            <a:ext cx="320040" cy="3200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6892514" y="3946711"/>
            <a:ext cx="4843630" cy="765138"/>
          </a:xfrm>
          <a:prstGeom prst="rect">
            <a:avLst/>
          </a:prstGeom>
          <a:noFill/>
          <a:ln/>
        </p:spPr>
        <p:txBody>
          <a:bodyPr wrap="square" lIns="0" tIns="0" rIns="0" bIns="0" rtlCol="0" anchor="ctr"/>
          <a:lstStyle/>
          <a:p>
            <a:pPr marL="0" indent="0">
              <a:lnSpc>
                <a:spcPct val="120000"/>
              </a:lnSpc>
              <a:buNone/>
            </a:pPr>
            <a:r>
              <a:rPr lang="en-US" dirty="0">
                <a:solidFill>
                  <a:srgbClr val="2B2B2B"/>
                </a:solidFill>
                <a:latin typeface="Calibri"/>
                <a:ea typeface="Calibri"/>
                <a:cs typeface="Calibri"/>
              </a:rPr>
              <a:t>Individual land-use categories (LU_2010) were the weakest group of predictors overall</a:t>
            </a:r>
          </a:p>
        </p:txBody>
      </p:sp>
      <p:sp>
        <p:nvSpPr>
          <p:cNvPr id="22" name="Text 19"/>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3" name="Text 20"/>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3A2E28"/>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a:ea typeface="Cambria"/>
                <a:cs typeface="Cambria" pitchFamily="34" charset="-120"/>
              </a:rPr>
              <a:t>Honest Limitations</a:t>
            </a:r>
            <a:endParaRPr lang="en-US" sz="3200">
              <a:latin typeface="Cambria"/>
              <a:ea typeface="Cambria"/>
              <a:cs typeface="Calibri"/>
            </a:endParaRPr>
          </a:p>
        </p:txBody>
      </p:sp>
      <p:sp>
        <p:nvSpPr>
          <p:cNvPr id="3" name="Text 1"/>
          <p:cNvSpPr txBox="1"/>
          <p:nvPr/>
        </p:nvSpPr>
        <p:spPr>
          <a:xfrm>
            <a:off x="548640" y="1051560"/>
            <a:ext cx="7315200" cy="365760"/>
          </a:xfrm>
          <a:prstGeom prst="rect">
            <a:avLst/>
          </a:prstGeom>
          <a:noFill/>
          <a:ln/>
        </p:spPr>
        <p:txBody>
          <a:bodyPr wrap="square" lIns="0" tIns="0" rIns="0" bIns="0" rtlCol="0" anchor="ctr"/>
          <a:lstStyle/>
          <a:p>
            <a:pPr marL="0" indent="0">
              <a:buNone/>
            </a:pPr>
            <a:r>
              <a:rPr lang="en-US" sz="2400" b="1" dirty="0">
                <a:solidFill>
                  <a:srgbClr val="B85042"/>
                </a:solidFill>
                <a:latin typeface="Calibri"/>
                <a:ea typeface="Calibri"/>
                <a:cs typeface="Calibri"/>
              </a:rPr>
              <a:t>What this project does NOT claim</a:t>
            </a:r>
            <a:endParaRPr lang="en-US" sz="2400">
              <a:latin typeface="Calibri"/>
              <a:ea typeface="Calibri"/>
              <a:cs typeface="Calibri"/>
            </a:endParaRPr>
          </a:p>
        </p:txBody>
      </p:sp>
      <p:sp>
        <p:nvSpPr>
          <p:cNvPr id="4" name="Text 2"/>
          <p:cNvSpPr txBox="1"/>
          <p:nvPr/>
        </p:nvSpPr>
        <p:spPr>
          <a:xfrm>
            <a:off x="548640" y="1508760"/>
            <a:ext cx="365760" cy="457200"/>
          </a:xfrm>
          <a:prstGeom prst="rect">
            <a:avLst/>
          </a:prstGeom>
          <a:noFill/>
          <a:ln/>
        </p:spPr>
        <p:txBody>
          <a:bodyPr wrap="square" lIns="0" tIns="0" rIns="0" bIns="0" rtlCol="0" anchor="ctr"/>
          <a:lstStyle/>
          <a:p>
            <a:pPr marL="0" indent="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960120" y="149047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Does not predict whether a landslide will occur — no reliable negative samples exist in this inventory</a:t>
            </a:r>
            <a:endParaRPr lang="en-US" sz="2000" dirty="0"/>
          </a:p>
        </p:txBody>
      </p:sp>
      <p:sp>
        <p:nvSpPr>
          <p:cNvPr id="6" name="Text 4"/>
          <p:cNvSpPr txBox="1"/>
          <p:nvPr/>
        </p:nvSpPr>
        <p:spPr>
          <a:xfrm>
            <a:off x="548640" y="2057400"/>
            <a:ext cx="365760" cy="457200"/>
          </a:xfrm>
          <a:prstGeom prst="rect">
            <a:avLst/>
          </a:prstGeom>
          <a:noFill/>
          <a:ln/>
        </p:spPr>
        <p:txBody>
          <a:bodyPr wrap="square" lIns="0" tIns="0" rIns="0" bIns="0" rtlCol="0" anchor="ctr"/>
          <a:lstStyle/>
          <a:p>
            <a:pPr marL="0" indent="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7" name="Text 5"/>
          <p:cNvSpPr txBox="1"/>
          <p:nvPr/>
        </p:nvSpPr>
        <p:spPr>
          <a:xfrm>
            <a:off x="960120" y="203911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Does not provide real-time early warning — event-level rainfall timing is not available per landslide</a:t>
            </a:r>
            <a:endParaRPr lang="en-US" sz="2000" dirty="0"/>
          </a:p>
        </p:txBody>
      </p:sp>
      <p:sp>
        <p:nvSpPr>
          <p:cNvPr id="8" name="Text 6"/>
          <p:cNvSpPr txBox="1"/>
          <p:nvPr/>
        </p:nvSpPr>
        <p:spPr>
          <a:xfrm>
            <a:off x="548640" y="2606040"/>
            <a:ext cx="365760" cy="457200"/>
          </a:xfrm>
          <a:prstGeom prst="rect">
            <a:avLst/>
          </a:prstGeom>
          <a:noFill/>
          <a:ln/>
        </p:spPr>
        <p:txBody>
          <a:bodyPr wrap="square" lIns="0" tIns="0" rIns="0" bIns="0" rtlCol="0" anchor="ctr"/>
          <a:lstStyle/>
          <a:p>
            <a:pPr marL="0" indent="0">
              <a:buNone/>
            </a:pPr>
            <a:r>
              <a:rPr lang="en-US" sz="1600" b="1" dirty="0">
                <a:solidFill>
                  <a:srgbClr val="B85042"/>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960120" y="258775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Does not establish causation between land-use and landslides — only association is examined</a:t>
            </a:r>
            <a:endParaRPr lang="en-US" sz="2000" dirty="0"/>
          </a:p>
        </p:txBody>
      </p:sp>
      <p:sp>
        <p:nvSpPr>
          <p:cNvPr id="10" name="Text 8"/>
          <p:cNvSpPr txBox="1"/>
          <p:nvPr/>
        </p:nvSpPr>
        <p:spPr>
          <a:xfrm>
            <a:off x="548640" y="3474720"/>
            <a:ext cx="7315200" cy="365760"/>
          </a:xfrm>
          <a:prstGeom prst="rect">
            <a:avLst/>
          </a:prstGeom>
          <a:noFill/>
          <a:ln/>
        </p:spPr>
        <p:txBody>
          <a:bodyPr wrap="square" lIns="0" tIns="0" rIns="0" bIns="0" rtlCol="0" anchor="ctr"/>
          <a:lstStyle/>
          <a:p>
            <a:pPr marL="0" indent="0">
              <a:buNone/>
            </a:pPr>
            <a:r>
              <a:rPr lang="en-US" sz="2400" b="1" dirty="0">
                <a:solidFill>
                  <a:srgbClr val="A7BEAE"/>
                </a:solidFill>
                <a:latin typeface="Calibri"/>
                <a:ea typeface="Calibri"/>
                <a:cs typeface="Calibri"/>
              </a:rPr>
              <a:t>Genuine limitations in the data &amp; results</a:t>
            </a:r>
            <a:endParaRPr lang="en-US" sz="2400">
              <a:latin typeface="Calibri"/>
              <a:ea typeface="Calibri"/>
              <a:cs typeface="Calibri"/>
            </a:endParaRPr>
          </a:p>
        </p:txBody>
      </p:sp>
      <p:sp>
        <p:nvSpPr>
          <p:cNvPr id="11" name="Text 9"/>
          <p:cNvSpPr txBox="1"/>
          <p:nvPr/>
        </p:nvSpPr>
        <p:spPr>
          <a:xfrm>
            <a:off x="548640" y="3931920"/>
            <a:ext cx="365760" cy="457200"/>
          </a:xfrm>
          <a:prstGeom prst="rect">
            <a:avLst/>
          </a:prstGeom>
          <a:noFill/>
          <a:ln/>
        </p:spPr>
        <p:txBody>
          <a:bodyPr wrap="square" lIns="0" tIns="0" rIns="0" bIns="0" rtlCol="0" anchor="ctr"/>
          <a:lstStyle/>
          <a:p>
            <a:pPr marL="0" indent="0">
              <a:buNone/>
            </a:pPr>
            <a:r>
              <a:rPr lang="en-US" sz="1600" b="1" dirty="0">
                <a:solidFill>
                  <a:srgbClr val="A7BEAE"/>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960120" y="391363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Rockfall is a small minority class (n=152, ~3%) — all three models show limited recall on it</a:t>
            </a:r>
            <a:endParaRPr lang="en-US" sz="2000" dirty="0"/>
          </a:p>
        </p:txBody>
      </p:sp>
      <p:sp>
        <p:nvSpPr>
          <p:cNvPr id="13" name="Text 11"/>
          <p:cNvSpPr txBox="1"/>
          <p:nvPr/>
        </p:nvSpPr>
        <p:spPr>
          <a:xfrm>
            <a:off x="548640" y="4480560"/>
            <a:ext cx="365760" cy="457200"/>
          </a:xfrm>
          <a:prstGeom prst="rect">
            <a:avLst/>
          </a:prstGeom>
          <a:noFill/>
          <a:ln/>
        </p:spPr>
        <p:txBody>
          <a:bodyPr wrap="square" lIns="0" tIns="0" rIns="0" bIns="0" rtlCol="0" anchor="ctr"/>
          <a:lstStyle/>
          <a:p>
            <a:pPr marL="0" indent="0">
              <a:buNone/>
            </a:pPr>
            <a:r>
              <a:rPr lang="en-US" sz="1600" b="1" dirty="0">
                <a:solidFill>
                  <a:srgbClr val="A7BEAE"/>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960120" y="446227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Only 60 rainfall stations statewide; some landslides are matched to a station up to ~78 km away</a:t>
            </a:r>
            <a:endParaRPr lang="en-US" sz="2000" dirty="0"/>
          </a:p>
        </p:txBody>
      </p:sp>
      <p:sp>
        <p:nvSpPr>
          <p:cNvPr id="15" name="Text 13"/>
          <p:cNvSpPr txBox="1"/>
          <p:nvPr/>
        </p:nvSpPr>
        <p:spPr>
          <a:xfrm>
            <a:off x="548640" y="5029200"/>
            <a:ext cx="365760" cy="457200"/>
          </a:xfrm>
          <a:prstGeom prst="rect">
            <a:avLst/>
          </a:prstGeom>
          <a:noFill/>
          <a:ln/>
        </p:spPr>
        <p:txBody>
          <a:bodyPr wrap="square" lIns="0" tIns="0" rIns="0" bIns="0" rtlCol="0" anchor="ctr"/>
          <a:lstStyle/>
          <a:p>
            <a:pPr marL="0" indent="0">
              <a:buNone/>
            </a:pPr>
            <a:r>
              <a:rPr lang="en-US" sz="1600" b="1" dirty="0">
                <a:solidFill>
                  <a:srgbClr val="A7BEAE"/>
                </a:solidFill>
                <a:latin typeface="Calibri" pitchFamily="34" charset="0"/>
                <a:ea typeface="Calibri" pitchFamily="34" charset="-122"/>
                <a:cs typeface="Calibri" pitchFamily="34" charset="-120"/>
              </a:rPr>
              <a:t>•</a:t>
            </a:r>
            <a:endParaRPr lang="en-US" sz="1600" dirty="0"/>
          </a:p>
        </p:txBody>
      </p:sp>
      <p:sp>
        <p:nvSpPr>
          <p:cNvPr id="16" name="Text 14"/>
          <p:cNvSpPr txBox="1"/>
          <p:nvPr/>
        </p:nvSpPr>
        <p:spPr>
          <a:xfrm>
            <a:off x="960120" y="501091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Coverage_Ratio ranked highly in importance — may partly reflect data quality, not physical cause</a:t>
            </a:r>
            <a:endParaRPr lang="en-US" sz="2000" dirty="0"/>
          </a:p>
        </p:txBody>
      </p:sp>
      <p:sp>
        <p:nvSpPr>
          <p:cNvPr id="17" name="Text 15"/>
          <p:cNvSpPr txBox="1"/>
          <p:nvPr/>
        </p:nvSpPr>
        <p:spPr>
          <a:xfrm>
            <a:off x="548640" y="5577840"/>
            <a:ext cx="365760" cy="457200"/>
          </a:xfrm>
          <a:prstGeom prst="rect">
            <a:avLst/>
          </a:prstGeom>
          <a:noFill/>
          <a:ln/>
        </p:spPr>
        <p:txBody>
          <a:bodyPr wrap="square" lIns="0" tIns="0" rIns="0" bIns="0" rtlCol="0" anchor="ctr"/>
          <a:lstStyle/>
          <a:p>
            <a:pPr marL="0" indent="0">
              <a:buNone/>
            </a:pPr>
            <a:r>
              <a:rPr lang="en-US" sz="1600" b="1" dirty="0">
                <a:solidFill>
                  <a:srgbClr val="A7BEAE"/>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960120" y="5559552"/>
            <a:ext cx="10424160" cy="502920"/>
          </a:xfrm>
          <a:prstGeom prst="rect">
            <a:avLst/>
          </a:prstGeom>
          <a:noFill/>
          <a:ln/>
        </p:spPr>
        <p:txBody>
          <a:bodyPr wrap="square" lIns="0" tIns="0" rIns="0" bIns="0" rtlCol="0" anchor="ctr"/>
          <a:lstStyle/>
          <a:p>
            <a:pPr marL="0" indent="0">
              <a:buNone/>
            </a:pPr>
            <a:r>
              <a:rPr lang="en-US" sz="2000" dirty="0">
                <a:solidFill>
                  <a:srgbClr val="E7E8D1"/>
                </a:solidFill>
                <a:latin typeface="Calibri" pitchFamily="34" charset="0"/>
                <a:ea typeface="Calibri" pitchFamily="34" charset="-122"/>
                <a:cs typeface="Calibri" pitchFamily="34" charset="-120"/>
              </a:rPr>
              <a:t>122 landslides (2.58%) lacked GSI data and were excluded from modelling, not deleted</a:t>
            </a:r>
            <a:endParaRPr lang="en-US" sz="2000" dirty="0"/>
          </a:p>
        </p:txBody>
      </p:sp>
      <p:sp>
        <p:nvSpPr>
          <p:cNvPr id="19" name="Text 17"/>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0" name="Text 18"/>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marL="0" indent="0">
              <a:buNone/>
            </a:pPr>
            <a:r>
              <a:rPr lang="en-US" sz="3200" b="1" dirty="0">
                <a:solidFill>
                  <a:srgbClr val="3A2E28"/>
                </a:solidFill>
                <a:latin typeface="Cambria"/>
                <a:ea typeface="Cambria"/>
                <a:cs typeface="Cambria" pitchFamily="34" charset="-120"/>
              </a:rPr>
              <a:t>Conclusion</a:t>
            </a:r>
            <a:r>
              <a:rPr lang="en-US" sz="3000" b="1" dirty="0">
                <a:solidFill>
                  <a:srgbClr val="3A2E28"/>
                </a:solidFill>
                <a:latin typeface="Cambria"/>
                <a:ea typeface="Cambria"/>
                <a:cs typeface="Cambria" pitchFamily="34" charset="-120"/>
              </a:rPr>
              <a:t> </a:t>
            </a:r>
            <a:endParaRPr lang="en-US" sz="3000" dirty="0">
              <a:latin typeface="Cambria"/>
              <a:ea typeface="Cambria"/>
            </a:endParaRPr>
          </a:p>
        </p:txBody>
      </p:sp>
      <p:sp>
        <p:nvSpPr>
          <p:cNvPr id="3" name="Shape 1"/>
          <p:cNvSpPr/>
          <p:nvPr/>
        </p:nvSpPr>
        <p:spPr>
          <a:xfrm>
            <a:off x="817582" y="1000013"/>
            <a:ext cx="10694446" cy="4542865"/>
          </a:xfrm>
          <a:prstGeom prst="rect">
            <a:avLst/>
          </a:prstGeom>
          <a:solidFill>
            <a:srgbClr val="E7E8D1"/>
          </a:solidFill>
          <a:ln/>
        </p:spPr>
      </p:sp>
      <p:sp>
        <p:nvSpPr>
          <p:cNvPr id="22" name="Text 20"/>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3" name="Text 21"/>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16</a:t>
            </a:r>
            <a:endParaRPr lang="en-US" sz="900" dirty="0"/>
          </a:p>
        </p:txBody>
      </p:sp>
      <p:sp>
        <p:nvSpPr>
          <p:cNvPr id="24" name="TextBox 23">
            <a:extLst>
              <a:ext uri="{FF2B5EF4-FFF2-40B4-BE49-F238E27FC236}">
                <a16:creationId xmlns:a16="http://schemas.microsoft.com/office/drawing/2014/main" id="{133CF96A-078A-D850-BFA3-EC35EC936238}"/>
              </a:ext>
            </a:extLst>
          </p:cNvPr>
          <p:cNvSpPr txBox="1"/>
          <p:nvPr/>
        </p:nvSpPr>
        <p:spPr>
          <a:xfrm>
            <a:off x="1169895" y="1542766"/>
            <a:ext cx="999340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ea typeface="+mn-lt"/>
                <a:cs typeface="+mn-lt"/>
              </a:rPr>
              <a:t>An integrated QGIS and machine learning pipeline was built to analyze 4,606 confirmed landslide locations from Kerala's 2018 monsoon inventory. Rainfall characteristics — particularly total, mean daily, and short-duration maximum rainfall — along with slope, emerged as the strongest predictors of landslide type, while individual land-use categories contributed comparatively less. Among the three models compared (Decision Tree, Random Forest, and Gradient Boosted Trees), Gradient Boosted Trees delivered the most balanced performance, achieving the highest overall accuracy (73.93%) while also providing the best recall and precision for the minority Rockfall class. All results were evaluated using 5-fold cross-validation to ensure they reflect genuine predictive performance rather than training artifacts, and findings — including the model's limitations on the underrepresented Rockfall class — are reported honestly rather than overstated.</a:t>
            </a:r>
            <a:endParaRPr lang="en-US" sz="2000" dirty="0">
              <a:ea typeface="Calibri" panose="020F05020202040302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058F6C-4C48-1404-0D7F-F0EE8DFBEB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B451F6-2A11-EF2E-5D5C-52E3F0A66470}"/>
              </a:ext>
            </a:extLst>
          </p:cNvPr>
          <p:cNvSpPr txBox="1"/>
          <p:nvPr/>
        </p:nvSpPr>
        <p:spPr>
          <a:xfrm>
            <a:off x="548640" y="365760"/>
            <a:ext cx="11091672" cy="640080"/>
          </a:xfrm>
          <a:prstGeom prst="rect">
            <a:avLst/>
          </a:prstGeom>
          <a:noFill/>
          <a:ln/>
        </p:spPr>
        <p:txBody>
          <a:bodyPr wrap="square" lIns="0" tIns="0" rIns="0" bIns="0" rtlCol="0" anchor="ctr"/>
          <a:lstStyle/>
          <a:p>
            <a:r>
              <a:rPr lang="en-US" sz="3200" b="1" dirty="0">
                <a:solidFill>
                  <a:srgbClr val="3A2E28"/>
                </a:solidFill>
                <a:latin typeface="Cambria"/>
                <a:ea typeface="Cambria"/>
              </a:rPr>
              <a:t>Future Scope</a:t>
            </a:r>
            <a:endParaRPr lang="en-US" dirty="0"/>
          </a:p>
        </p:txBody>
      </p:sp>
      <p:sp>
        <p:nvSpPr>
          <p:cNvPr id="3" name="Shape 1">
            <a:extLst>
              <a:ext uri="{FF2B5EF4-FFF2-40B4-BE49-F238E27FC236}">
                <a16:creationId xmlns:a16="http://schemas.microsoft.com/office/drawing/2014/main" id="{10BDDA08-F86F-303D-EA98-C1B37A126B79}"/>
              </a:ext>
            </a:extLst>
          </p:cNvPr>
          <p:cNvSpPr/>
          <p:nvPr/>
        </p:nvSpPr>
        <p:spPr>
          <a:xfrm>
            <a:off x="817582" y="1000013"/>
            <a:ext cx="10694446" cy="5091953"/>
          </a:xfrm>
          <a:prstGeom prst="rect">
            <a:avLst/>
          </a:prstGeom>
          <a:solidFill>
            <a:srgbClr val="E7E8D1"/>
          </a:solidFill>
          <a:ln/>
        </p:spPr>
      </p:sp>
      <p:sp>
        <p:nvSpPr>
          <p:cNvPr id="22" name="Text 20">
            <a:extLst>
              <a:ext uri="{FF2B5EF4-FFF2-40B4-BE49-F238E27FC236}">
                <a16:creationId xmlns:a16="http://schemas.microsoft.com/office/drawing/2014/main" id="{3714CB33-1315-6A4E-6331-FAF1AA3AE2E4}"/>
              </a:ext>
            </a:extLst>
          </p:cNvPr>
          <p:cNvSpPr txBox="1"/>
          <p:nvPr/>
        </p:nvSpPr>
        <p:spPr>
          <a:xfrm>
            <a:off x="457200" y="6492240"/>
            <a:ext cx="5486400" cy="274320"/>
          </a:xfrm>
          <a:prstGeom prst="rect">
            <a:avLst/>
          </a:prstGeom>
          <a:noFill/>
          <a:ln/>
        </p:spPr>
        <p:txBody>
          <a:bodyPr wrap="square" lIns="0" tIns="0" rIns="0" bIns="0" rtlCol="0" anchor="ctr"/>
          <a:lstStyle/>
          <a:p>
            <a:pPr marL="0" indent="0">
              <a:buNone/>
            </a:pPr>
            <a:r>
              <a:rPr lang="en-US" sz="900" dirty="0">
                <a:solidFill>
                  <a:srgbClr val="6B6259"/>
                </a:solidFill>
                <a:latin typeface="Calibri" pitchFamily="34" charset="0"/>
                <a:ea typeface="Calibri" pitchFamily="34" charset="-122"/>
                <a:cs typeface="Calibri" pitchFamily="34" charset="-120"/>
              </a:rPr>
              <a:t>Kerala Landslide Risk Estimation</a:t>
            </a:r>
            <a:endParaRPr lang="en-US" sz="900" dirty="0"/>
          </a:p>
        </p:txBody>
      </p:sp>
      <p:sp>
        <p:nvSpPr>
          <p:cNvPr id="23" name="Text 21">
            <a:extLst>
              <a:ext uri="{FF2B5EF4-FFF2-40B4-BE49-F238E27FC236}">
                <a16:creationId xmlns:a16="http://schemas.microsoft.com/office/drawing/2014/main" id="{65BA3280-0776-E428-A90E-B43942E40DA1}"/>
              </a:ext>
            </a:extLst>
          </p:cNvPr>
          <p:cNvSpPr txBox="1"/>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6259"/>
                </a:solidFill>
                <a:latin typeface="Calibri"/>
                <a:ea typeface="Calibri"/>
                <a:cs typeface="Calibri"/>
              </a:rPr>
              <a:t>17</a:t>
            </a:r>
            <a:endParaRPr lang="en-US" sz="900" dirty="0"/>
          </a:p>
        </p:txBody>
      </p:sp>
      <p:sp>
        <p:nvSpPr>
          <p:cNvPr id="24" name="TextBox 23">
            <a:extLst>
              <a:ext uri="{FF2B5EF4-FFF2-40B4-BE49-F238E27FC236}">
                <a16:creationId xmlns:a16="http://schemas.microsoft.com/office/drawing/2014/main" id="{C04A599D-CC8C-82CA-FA09-6151AEB2615A}"/>
              </a:ext>
            </a:extLst>
          </p:cNvPr>
          <p:cNvSpPr txBox="1"/>
          <p:nvPr/>
        </p:nvSpPr>
        <p:spPr>
          <a:xfrm>
            <a:off x="1102660" y="1195384"/>
            <a:ext cx="999340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2000" dirty="0">
                <a:ea typeface="+mn-lt"/>
                <a:cs typeface="+mn-lt"/>
              </a:rPr>
              <a:t>Address class imbalance directly through stratified weighting or targeted data collection to improve Rockfall detection, which remained the weakest-performing class across all three models due to its limited sample size (n=152)</a:t>
            </a:r>
            <a:endParaRPr lang="en-US" dirty="0"/>
          </a:p>
          <a:p>
            <a:pPr marL="285750" indent="-285750" algn="just">
              <a:buFont typeface="Arial"/>
              <a:buChar char="•"/>
            </a:pPr>
            <a:r>
              <a:rPr lang="en-US" sz="2000" dirty="0">
                <a:ea typeface="+mn-lt"/>
                <a:cs typeface="+mn-lt"/>
              </a:rPr>
              <a:t>Build a validated, spatially-aware negative/background sample set to enable true landslide-occurrence risk modelling, going beyond the current type-classification approach</a:t>
            </a:r>
            <a:endParaRPr lang="en-US" dirty="0"/>
          </a:p>
          <a:p>
            <a:pPr marL="285750" indent="-285750" algn="just">
              <a:buFont typeface="Arial"/>
              <a:buChar char="•"/>
            </a:pPr>
            <a:r>
              <a:rPr lang="en-US" sz="2000" dirty="0">
                <a:ea typeface="+mn-lt"/>
                <a:cs typeface="+mn-lt"/>
              </a:rPr>
              <a:t>Incorporate land-use change between 2010 and 2018 as an explicit predictor, to examine whether shifts in land use (e.g., deforestation, urbanization) are associated with landslide type or severity</a:t>
            </a:r>
            <a:endParaRPr lang="en-US" dirty="0"/>
          </a:p>
          <a:p>
            <a:pPr marL="285750" indent="-285750" algn="just">
              <a:buFont typeface="Arial"/>
              <a:buChar char="•"/>
            </a:pPr>
            <a:r>
              <a:rPr lang="en-US" sz="2000" dirty="0">
                <a:ea typeface="+mn-lt"/>
                <a:cs typeface="+mn-lt"/>
              </a:rPr>
              <a:t>Expand the rainfall monitoring network, or apply spatial interpolation techniques, to reduce the distance-based uncertainty in rainfall estimates for landslides located far from existing stations</a:t>
            </a:r>
            <a:endParaRPr lang="en-US" dirty="0"/>
          </a:p>
          <a:p>
            <a:pPr marL="285750" indent="-285750" algn="just">
              <a:buFont typeface="Arial"/>
              <a:buChar char="•"/>
            </a:pPr>
            <a:r>
              <a:rPr lang="en-US" sz="2000" dirty="0">
                <a:ea typeface="+mn-lt"/>
                <a:cs typeface="+mn-lt"/>
              </a:rPr>
              <a:t>Map model outputs and feature importance back into QGIS to produce a spatial risk-characterization visualization that could support disaster-preparedness planning in high-susceptibility districts</a:t>
            </a:r>
            <a:endParaRPr lang="en-US" dirty="0"/>
          </a:p>
          <a:p>
            <a:pPr algn="just"/>
            <a:endParaRPr lang="en-US" sz="2000" dirty="0">
              <a:ea typeface="Calibri" panose="020F0502020204030204"/>
              <a:cs typeface="Calibri" panose="020F0502020204030204"/>
            </a:endParaRPr>
          </a:p>
        </p:txBody>
      </p:sp>
    </p:spTree>
    <p:extLst>
      <p:ext uri="{BB962C8B-B14F-4D97-AF65-F5344CB8AC3E}">
        <p14:creationId xmlns:p14="http://schemas.microsoft.com/office/powerpoint/2010/main" val="819248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3A2E28"/>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B85042">
              <a:alpha val="22000"/>
            </a:srgbClr>
          </a:solidFill>
          <a:ln/>
        </p:spPr>
      </p:sp>
      <p:sp>
        <p:nvSpPr>
          <p:cNvPr id="3" name="Shape 1"/>
          <p:cNvSpPr/>
          <p:nvPr/>
        </p:nvSpPr>
        <p:spPr>
          <a:xfrm>
            <a:off x="-1828800" y="4114800"/>
            <a:ext cx="4572000" cy="4572000"/>
          </a:xfrm>
          <a:prstGeom prst="ellipse">
            <a:avLst/>
          </a:prstGeom>
          <a:solidFill>
            <a:srgbClr val="A7BEAE">
              <a:alpha val="18000"/>
            </a:srgbClr>
          </a:solidFill>
          <a:ln/>
        </p:spPr>
      </p:sp>
      <p:sp>
        <p:nvSpPr>
          <p:cNvPr id="4" name="Text 2"/>
          <p:cNvSpPr txBox="1"/>
          <p:nvPr/>
        </p:nvSpPr>
        <p:spPr>
          <a:xfrm>
            <a:off x="822960" y="2651760"/>
            <a:ext cx="91440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822960" y="3611880"/>
            <a:ext cx="9601200" cy="457200"/>
          </a:xfrm>
          <a:prstGeom prst="rect">
            <a:avLst/>
          </a:prstGeom>
          <a:noFill/>
          <a:ln/>
        </p:spPr>
        <p:txBody>
          <a:bodyPr wrap="square" lIns="0" tIns="0" rIns="0" bIns="0" rtlCol="0" anchor="ctr"/>
          <a:lstStyle/>
          <a:p>
            <a:pPr marL="0" indent="0">
              <a:buNone/>
            </a:pPr>
            <a:r>
              <a:rPr lang="en-US" sz="1400" i="1" dirty="0">
                <a:solidFill>
                  <a:srgbClr val="E7E8D1"/>
                </a:solidFill>
                <a:latin typeface="Calibri" pitchFamily="34" charset="0"/>
                <a:ea typeface="Calibri" pitchFamily="34" charset="-122"/>
                <a:cs typeface="Calibri" pitchFamily="34" charset="-120"/>
              </a:rPr>
              <a:t>Kerala Landslide Risk Estimation Using Rainfall, Terrain Susceptibility and Land-Use Factors</a:t>
            </a:r>
            <a:endParaRPr lang="en-US" sz="1400" dirty="0"/>
          </a:p>
        </p:txBody>
      </p:sp>
      <p:sp>
        <p:nvSpPr>
          <p:cNvPr id="6" name="Text 4"/>
          <p:cNvSpPr txBox="1"/>
          <p:nvPr/>
        </p:nvSpPr>
        <p:spPr>
          <a:xfrm>
            <a:off x="822960" y="4206240"/>
            <a:ext cx="7315200" cy="365760"/>
          </a:xfrm>
          <a:prstGeom prst="rect">
            <a:avLst/>
          </a:prstGeom>
          <a:noFill/>
          <a:ln/>
        </p:spPr>
        <p:txBody>
          <a:bodyPr wrap="square" lIns="0" tIns="0" rIns="0" bIns="0" rtlCol="0" anchor="ctr"/>
          <a:lstStyle/>
          <a:p>
            <a:pPr marL="0" indent="0">
              <a:buNone/>
            </a:pPr>
            <a:r>
              <a:rPr lang="en-US" sz="1300" dirty="0">
                <a:solidFill>
                  <a:srgbClr val="A7BEAE"/>
                </a:solidFill>
                <a:latin typeface="Calibri" pitchFamily="34" charset="0"/>
                <a:ea typeface="Calibri" pitchFamily="34" charset="-122"/>
                <a:cs typeface="Calibri" pitchFamily="34" charset="-120"/>
              </a:rPr>
              <a:t>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388</cp:revision>
  <dcterms:created xsi:type="dcterms:W3CDTF">2026-09-18T02:18:44Z</dcterms:created>
  <dcterms:modified xsi:type="dcterms:W3CDTF">2026-09-18T12:53:17Z</dcterms:modified>
</cp:coreProperties>
</file>